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58c4eee57d4162" /><Relationship Type="http://schemas.openxmlformats.org/officeDocument/2006/relationships/extended-properties" Target="/docProps/app.xml" Id="Rd444fd0b82b244c6" /><Relationship Type="http://schemas.openxmlformats.org/officeDocument/2006/relationships/officeDocument" Target="/ppt/presentation.xml" Id="R4a8977d56cdf4440" /></Relationships>
</file>

<file path=ppt/presentation.xml><?xml version="1.0" encoding="utf-8"?>
<p:presentation xmlns:p="http://schemas.openxmlformats.org/presentationml/2006/main">
  <p:sldMasterIdLst>
    <p:sldMasterId xmlns:r="http://schemas.openxmlformats.org/officeDocument/2006/relationships" id="2147483648" r:id="Rc6eab6427fc947c8"/>
  </p:sldMasterIdLst>
  <p:notesMasterIdLst>
    <p:notesMasterId xmlns:r="http://schemas.openxmlformats.org/officeDocument/2006/relationships" r:id="R51ea50efc24247cf"/>
  </p:notesMasterIdLst>
  <p:sldIdLst>
    <p:sldId xmlns:r="http://schemas.openxmlformats.org/officeDocument/2006/relationships" id="256" r:id="R7ab7b36c7218413d"/>
    <p:sldId xmlns:r="http://schemas.openxmlformats.org/officeDocument/2006/relationships" id="257" r:id="R60727ec3bf574bf4"/>
    <p:sldId xmlns:r="http://schemas.openxmlformats.org/officeDocument/2006/relationships" id="258" r:id="R1da7a3ee83b34eca"/>
    <p:sldId xmlns:r="http://schemas.openxmlformats.org/officeDocument/2006/relationships" id="259" r:id="Ra1cac27111b04151"/>
    <p:sldId xmlns:r="http://schemas.openxmlformats.org/officeDocument/2006/relationships" id="260" r:id="R2c42a12a291d45b9"/>
    <p:sldId xmlns:r="http://schemas.openxmlformats.org/officeDocument/2006/relationships" id="261" r:id="R9291ca5d34d94fed"/>
    <p:sldId xmlns:r="http://schemas.openxmlformats.org/officeDocument/2006/relationships" id="262" r:id="R6c2be8fea5c94f63"/>
    <p:sldId xmlns:r="http://schemas.openxmlformats.org/officeDocument/2006/relationships" id="263" r:id="Rb42da1dd7f424b30"/>
    <p:sldId xmlns:r="http://schemas.openxmlformats.org/officeDocument/2006/relationships" id="264" r:id="R49fb01153f084f3a"/>
    <p:sldId xmlns:r="http://schemas.openxmlformats.org/officeDocument/2006/relationships" id="265" r:id="R9b81e9d9fdd740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d3feec8e184ec6" /><Relationship Type="http://schemas.openxmlformats.org/officeDocument/2006/relationships/slideMaster" Target="/ppt/slideMasters/slideMaster1.xml" Id="Rc6eab6427fc947c8" /><Relationship Type="http://schemas.openxmlformats.org/officeDocument/2006/relationships/notesMaster" Target="/ppt/notesMasters/notesMaster1.xml" Id="R51ea50efc24247cf" /><Relationship Type="http://schemas.openxmlformats.org/officeDocument/2006/relationships/presProps" Target="/ppt/presProps.xml" Id="Rd374fd22755f42b3" /><Relationship Type="http://schemas.openxmlformats.org/officeDocument/2006/relationships/tableStyles" Target="/ppt/tableStyles.xml" Id="R31fa3bb05925456b" /><Relationship Type="http://schemas.openxmlformats.org/officeDocument/2006/relationships/slide" Target="/ppt/slides/slide1.xml" Id="R7ab7b36c7218413d" /><Relationship Type="http://schemas.openxmlformats.org/officeDocument/2006/relationships/slide" Target="/ppt/slides/slide2.xml" Id="R60727ec3bf574bf4" /><Relationship Type="http://schemas.openxmlformats.org/officeDocument/2006/relationships/slide" Target="/ppt/slides/slide3.xml" Id="R1da7a3ee83b34eca" /><Relationship Type="http://schemas.openxmlformats.org/officeDocument/2006/relationships/slide" Target="/ppt/slides/slide4.xml" Id="Ra1cac27111b04151" /><Relationship Type="http://schemas.openxmlformats.org/officeDocument/2006/relationships/slide" Target="/ppt/slides/slide5.xml" Id="R2c42a12a291d45b9" /><Relationship Type="http://schemas.openxmlformats.org/officeDocument/2006/relationships/slide" Target="/ppt/slides/slide6.xml" Id="R9291ca5d34d94fed" /><Relationship Type="http://schemas.openxmlformats.org/officeDocument/2006/relationships/slide" Target="/ppt/slides/slide7.xml" Id="R6c2be8fea5c94f63" /><Relationship Type="http://schemas.openxmlformats.org/officeDocument/2006/relationships/slide" Target="/ppt/slides/slide8.xml" Id="Rb42da1dd7f424b30" /><Relationship Type="http://schemas.openxmlformats.org/officeDocument/2006/relationships/slide" Target="/ppt/slides/slide9.xml" Id="R49fb01153f084f3a" /><Relationship Type="http://schemas.openxmlformats.org/officeDocument/2006/relationships/slide" Target="/ppt/slides/slide10.xml" Id="R9b81e9d9fdd740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dddc83615249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ef2a17755d4724" /><Relationship Type="http://schemas.openxmlformats.org/officeDocument/2006/relationships/notesMaster" Target="/ppt/notesMasters/notesMaster1.xml" Id="Rb0cd5c2093ff4a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6ff3981ca5444e" /><Relationship Type="http://schemas.openxmlformats.org/officeDocument/2006/relationships/notesMaster" Target="/ppt/notesMasters/notesMaster1.xml" Id="R06dcbe46312a40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dadd348f474553" /><Relationship Type="http://schemas.openxmlformats.org/officeDocument/2006/relationships/notesMaster" Target="/ppt/notesMasters/notesMaster1.xml" Id="R7e454fd731a04f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e0c23f699745bf" /><Relationship Type="http://schemas.openxmlformats.org/officeDocument/2006/relationships/notesMaster" Target="/ppt/notesMasters/notesMaster1.xml" Id="R39db1c7f031540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9e5cf0a9fc4800" /><Relationship Type="http://schemas.openxmlformats.org/officeDocument/2006/relationships/notesMaster" Target="/ppt/notesMasters/notesMaster1.xml" Id="Raabfa7cb43ba41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13616e74fb402b" /><Relationship Type="http://schemas.openxmlformats.org/officeDocument/2006/relationships/notesMaster" Target="/ppt/notesMasters/notesMaster1.xml" Id="R3dff28f771d84a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f22e480cd048ea" /><Relationship Type="http://schemas.openxmlformats.org/officeDocument/2006/relationships/notesMaster" Target="/ppt/notesMasters/notesMaster1.xml" Id="R1e310093c68b4a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846ed3d4d54563" /><Relationship Type="http://schemas.openxmlformats.org/officeDocument/2006/relationships/notesMaster" Target="/ppt/notesMasters/notesMaster1.xml" Id="R18018fb9ff1d4a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622cfa58a94040" /><Relationship Type="http://schemas.openxmlformats.org/officeDocument/2006/relationships/notesMaster" Target="/ppt/notesMasters/notesMaster1.xml" Id="Rbbfdf87affea43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9ae66dd44d444f" /><Relationship Type="http://schemas.openxmlformats.org/officeDocument/2006/relationships/notesMaster" Target="/ppt/notesMasters/notesMaster1.xml" Id="R4c86d7ac25d8486e"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45 seconds. This deck records the earlier retrieval-only release. Use docs/PRESENTATION_NOTES.md for the current LLM/RAG demonstration. Introduce the Greater Boston place-search prototype and its historical sources. State the team members and their actual contributions.</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1 minute. The earlier app accepts English interests, a city and an optional category. Its API returns places and source passages. It does not generate an itinerary. Screenshot: evidence/app-overview.png. The current RAG app is documented separately.</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1 minute. The source is UCSD Google Local 2021 for Massachusetts: 92,520 metadata rows and 10,447,007 review rows. The pilot was rebuilt from those files. It keeps up to 125 places per category and six reviews per place. Selecting popular places introduces sampling bias. Sources: https://mcauleylab.ucsd.edu/public_datasets/gdrive/googlelocal/ ; evidence/dataset-manifest.json.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90 seconds. Open compose.yaml and explain service_completed_successfully and service_healthy. Each Python service has a Dockerfile, pyproject.toml and uv.lock. Volumes retain data and model files. CPU computation and tests run in containers. Sources: compose.yaml; services/*/Dockerfile.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1 minute. Docker fixes the runtime environment; uv.lock fixes Python dependencies. Data and model checksums serve different purposes. Validate caches before reuse. Changes to data or processing parameters require a rebuild. Sources: config/sources.json; services/index/Dockerfile; evidence/index-manifest.json.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1 minute. Show sample-input.json and sample-output.json. Harvard Art Museums ranks first in this saved example. Each passage has a source file and line. Similarity is not a probability. This earlier release returns context without a generative LLM. Sources: evidence/sample-input.json; evidence/sample-output.json; https://huggingface.co/sentence-transformers/all-MiniLM-L6-v2.</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90 seconds. For the earlier retrieval demo, search for museums, compare the baseline, inspect sources, save a place and export. For the current app, follow docs/PRESENTATION_NOTES.md. Screenshot: evidence/app-search.png; source: frontend/app.js.</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90 seconds. This is not human recommendation accuracy. The 20 queries contain category words, and the expected categories are proxy labels. That wording favors the baseline. The benchmark does not establish whether semantic retrieval captures finer preferences. Sources: evaluation/queries.json; evidence/evaluation.json.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1 minute. The earlier release passed 18 tests covering filters, missing values, chunks, contact removal, checksums, input rejection, deduplication and citations. These checks are not a complete end-to-end quality evaluation. The screenshot shows the running API. Sources: tests/; evidence/tests.txt; evidence/containers.txt; evidence/api-running.png. See docs/RAG_RESULTS.md for later verification.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About 1 minute. Historical data and popularity-biased sampling limit the results. This slide describes the earlier release and its proposed next steps. Current RAG generation and cloud hosting are covered in separate notes; routing is still estimated. Confirm the hybrid assessment path with the TF. Submit the full milestone2 commit hash on Canvas; do not claim submission before it occurs. Sources: docs/DATA.md; docs/DEMO.md; https://harvard-iacs.github.io/2026-AC215/milestone2/.</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9b16e8c69149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8dc696a7a84e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2b9b14f37e4c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47b2a4418349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0446d1dffe41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4357e0b9cc49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8A779E-AB5D-4FAE-B68D-708BC3E2DB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5F5C89-9CAE-4465-8AFF-3BC3425CA4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1D16069-BA04-4A27-AE73-82B335C3C8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B6696C-F158-4756-B788-E121191355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8613A8-D040-41C0-A423-3679253393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AA6B38-5DB8-4A9D-B308-D1FC292DDF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8D5562-4384-4DE9-BCF1-116BF8FE28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DB110A-F8A1-4722-B676-B096DDCEEF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FEEE69-71A8-4AF3-9EF5-A0654F61A4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D891B6-81E2-482A-8CB7-A8DA77129A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33fb228f224f5b" /><Relationship Type="http://schemas.openxmlformats.org/officeDocument/2006/relationships/slideLayout" Target="/ppt/slideLayouts/slideLayout1.xml" Id="R314058b0b39249ca" /><Relationship Type="http://schemas.openxmlformats.org/officeDocument/2006/relationships/slideLayout" Target="/ppt/slideLayouts/slideLayout2.xml" Id="R48e86f6a1ca84b20" /><Relationship Type="http://schemas.openxmlformats.org/officeDocument/2006/relationships/slideLayout" Target="/ppt/slideLayouts/slideLayout3.xml" Id="Re45ecc02bde44c90" /><Relationship Type="http://schemas.openxmlformats.org/officeDocument/2006/relationships/slideLayout" Target="/ppt/slideLayouts/slideLayout4.xml" Id="Rcbe3347e284447d5" /><Relationship Type="http://schemas.openxmlformats.org/officeDocument/2006/relationships/slideLayout" Target="/ppt/slideLayouts/slideLayout5.xml" Id="Rab1588ecab1e459c" /><Relationship Type="http://schemas.openxmlformats.org/officeDocument/2006/relationships/slideLayout" Target="/ppt/slideLayouts/slideLayout6.xml" Id="R39cede49414645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4058b0b39249ca"/>
    <p:sldLayoutId xmlns:r="http://schemas.openxmlformats.org/officeDocument/2006/relationships" id="2147483650" r:id="R48e86f6a1ca84b20"/>
    <p:sldLayoutId xmlns:r="http://schemas.openxmlformats.org/officeDocument/2006/relationships" id="2147483651" r:id="Re45ecc02bde44c90"/>
    <p:sldLayoutId xmlns:r="http://schemas.openxmlformats.org/officeDocument/2006/relationships" id="2147483652" r:id="Rcbe3347e284447d5"/>
    <p:sldLayoutId xmlns:r="http://schemas.openxmlformats.org/officeDocument/2006/relationships" id="2147483653" r:id="Rab1588ecab1e459c"/>
    <p:sldLayoutId xmlns:r="http://schemas.openxmlformats.org/officeDocument/2006/relationships" id="2147483654" r:id="R39cede49414645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b7561ee8ce4c46" /><Relationship Type="http://schemas.openxmlformats.org/officeDocument/2006/relationships/notesSlide" Target="/ppt/notesSlides/notesSlide1.xml" Id="R82dd62f4f16e43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e2331455d54c1c" /><Relationship Type="http://schemas.openxmlformats.org/officeDocument/2006/relationships/image" Target="/ppt/media/image.jpeg" Id="R5d2aab42601b4a84" /><Relationship Type="http://schemas.openxmlformats.org/officeDocument/2006/relationships/notesSlide" Target="/ppt/notesSlides/notesSlide2.xml" Id="Rd3f05dddcb3f4a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b7d72ef6a9403c" /><Relationship Type="http://schemas.openxmlformats.org/officeDocument/2006/relationships/notesSlide" Target="/ppt/notesSlides/notesSlide3.xml" Id="R1c251d85c0f943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0ed24f90c84f76" /><Relationship Type="http://schemas.openxmlformats.org/officeDocument/2006/relationships/notesSlide" Target="/ppt/notesSlides/notesSlide4.xml" Id="R1b67bba3fcba45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6fe7ed852a4fa8" /><Relationship Type="http://schemas.openxmlformats.org/officeDocument/2006/relationships/notesSlide" Target="/ppt/notesSlides/notesSlide5.xml" Id="Rc1a51c74729840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4c05e09dda40e8" /><Relationship Type="http://schemas.openxmlformats.org/officeDocument/2006/relationships/notesSlide" Target="/ppt/notesSlides/notesSlide6.xml" Id="R264d14d8cc8b41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82ac9d805b484e" /><Relationship Type="http://schemas.openxmlformats.org/officeDocument/2006/relationships/image" Target="/ppt/media/image2.jpeg" Id="Rc6a817330c6b4c71" /><Relationship Type="http://schemas.openxmlformats.org/officeDocument/2006/relationships/notesSlide" Target="/ppt/notesSlides/notesSlide7.xml" Id="R820f421334d546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fd6810bf8d4023" /><Relationship Type="http://schemas.openxmlformats.org/officeDocument/2006/relationships/notesSlide" Target="/ppt/notesSlides/notesSlide8.xml" Id="Ra90bb38bcd3344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9168c78d0774dcf" /><Relationship Type="http://schemas.openxmlformats.org/officeDocument/2006/relationships/image" Target="/ppt/media/image3.jpeg" Id="Rccc4f28c45f641eb" /><Relationship Type="http://schemas.openxmlformats.org/officeDocument/2006/relationships/notesSlide" Target="/ppt/notesSlides/notesSlide9.xml" Id="Rb6b92e93c5e241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8045f951e34674" /><Relationship Type="http://schemas.openxmlformats.org/officeDocument/2006/relationships/notesSlide" Target="/ppt/notesSlides/notesSlide10.xml" Id="R058fd18556314d85" /></Relationships>
</file>

<file path=ppt/slides/slide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AB1CC4-91D2-4C88-9376-4A146B7086FD}"/>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RoamWise</a:t>
            </a:r>
          </a:p>
        </p:txBody>
      </p:sp>
      <p:sp>
        <p:nvSpPr>
          <p:cNvPr id="2" name="">
            <a:extLst xmlns:a="http://schemas.openxmlformats.org/drawingml/2006/main">
              <a:ext uri="{FF2B5EF4-FFF2-40B4-BE49-F238E27FC236}">
                <a16:creationId xmlns:a16="http://schemas.microsoft.com/office/drawing/2014/main" id="{5BE9D17E-4019-4B6C-83FE-5D53B8AB9ACB}"/>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01  /  RoamWise · AC215 MS2</a:t>
            </a:r>
          </a:p>
        </p:txBody>
      </p:sp>
      <p:sp>
        <p:nvSpPr>
          <p:cNvPr id="3" name="">
            <a:extLst xmlns:a="http://schemas.openxmlformats.org/drawingml/2006/main">
              <a:ext uri="{FF2B5EF4-FFF2-40B4-BE49-F238E27FC236}">
                <a16:creationId xmlns:a16="http://schemas.microsoft.com/office/drawing/2014/main" id="{907E64A5-9827-4A95-AC2E-02833DB23D87}"/>
              </a:ext>
            </a:extLst>
          </p:cNvPr>
          <p:cNvSpPr>
            <a:spLocks xmlns:a="http://schemas.openxmlformats.org/drawingml/2006/main" noGrp="1"/>
          </p:cNvSpPr>
          <p:nvPr/>
        </p:nvSpPr>
        <p:spPr>
          <a:xfrm xmlns:a="http://schemas.openxmlformats.org/drawingml/2006/main">
            <a:off x="609600" y="18097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183C33"/>
                </a:solidFill>
                <a:latin typeface="Arial"/>
                <a:ea typeface="Arial"/>
                <a:cs typeface="Arial"/>
              </a:defRPr>
            </a:defPPr>
          </a:lstStyle>
          <a:p xmlns:a="http://schemas.openxmlformats.org/drawingml/2006/main">
            <a:pPr>
              <a:defRPr sz="4650" b="0">
                <a:solidFill>
                  <a:srgbClr val="183C33"/>
                </a:solidFill>
                <a:latin typeface="Arial"/>
                <a:ea typeface="Arial"/>
                <a:cs typeface="Arial"/>
              </a:defRPr>
            </a:pPr>
            <a:r>
              <a:rPr sz="4650" b="0">
                <a:solidFill>
                  <a:srgbClr val="183C33"/>
                </a:solidFill>
                <a:latin typeface="Arial"/>
                <a:ea typeface="Arial"/>
                <a:cs typeface="Arial"/>
              </a:rPr>
              <a:t>A travel search prototype</a:t>
            </a:r>
          </a:p>
          <a:p xmlns:a="http://schemas.openxmlformats.org/drawingml/2006/main">
            <a:pPr>
              <a:defRPr sz="4650" b="0">
                <a:solidFill>
                  <a:srgbClr val="183C33"/>
                </a:solidFill>
                <a:latin typeface="Arial"/>
                <a:ea typeface="Arial"/>
                <a:cs typeface="Arial"/>
              </a:defRPr>
            </a:pPr>
            <a:r>
              <a:rPr sz="4650" b="0">
                <a:solidFill>
                  <a:srgbClr val="183C33"/>
                </a:solidFill>
                <a:latin typeface="Arial"/>
                <a:ea typeface="Arial"/>
                <a:cs typeface="Arial"/>
              </a:rPr>
              <a:t>with traceable sources</a:t>
            </a:r>
          </a:p>
        </p:txBody>
      </p:sp>
      <p:sp>
        <p:nvSpPr>
          <p:cNvPr id="4" name="">
            <a:extLst xmlns:a="http://schemas.openxmlformats.org/drawingml/2006/main">
              <a:ext uri="{FF2B5EF4-FFF2-40B4-BE49-F238E27FC236}">
                <a16:creationId xmlns:a16="http://schemas.microsoft.com/office/drawing/2014/main" id="{47CABD3B-9394-466E-AAE8-5C5AD66437F9}"/>
              </a:ext>
            </a:extLst>
          </p:cNvPr>
          <p:cNvSpPr>
            <a:spLocks xmlns:a="http://schemas.openxmlformats.org/drawingml/2006/main" noGrp="1"/>
          </p:cNvSpPr>
          <p:nvPr/>
        </p:nvSpPr>
        <p:spPr>
          <a:xfrm xmlns:a="http://schemas.openxmlformats.org/drawingml/2006/main">
            <a:off x="609600" y="42862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657367"/>
                </a:solidFill>
                <a:latin typeface="Arial"/>
                <a:ea typeface="Arial"/>
                <a:cs typeface="Arial"/>
              </a:defRPr>
            </a:defPPr>
          </a:lstStyle>
          <a:p xmlns:a="http://schemas.openxmlformats.org/drawingml/2006/main">
            <a:pPr>
              <a:defRPr sz="2250">
                <a:solidFill>
                  <a:srgbClr val="657367"/>
                </a:solidFill>
                <a:latin typeface="Arial"/>
                <a:ea typeface="Arial"/>
                <a:cs typeface="Arial"/>
              </a:defRPr>
            </a:pPr>
            <a:r>
              <a:rPr sz="2250">
                <a:solidFill>
                  <a:srgbClr val="657367"/>
                </a:solidFill>
                <a:latin typeface="Arial"/>
                <a:ea typeface="Arial"/>
                <a:cs typeface="Arial"/>
              </a:rPr>
              <a:t>The Routevengers</a:t>
            </a:r>
          </a:p>
          <a:p xmlns:a="http://schemas.openxmlformats.org/drawingml/2006/main">
            <a:pPr>
              <a:defRPr sz="2250">
                <a:solidFill>
                  <a:srgbClr val="657367"/>
                </a:solidFill>
                <a:latin typeface="Arial"/>
                <a:ea typeface="Arial"/>
                <a:cs typeface="Arial"/>
              </a:defRPr>
            </a:pPr>
            <a:r>
              <a:rPr sz="2250">
                <a:solidFill>
                  <a:srgbClr val="657367"/>
                </a:solidFill>
                <a:latin typeface="Arial"/>
                <a:ea typeface="Arial"/>
                <a:cs typeface="Arial"/>
              </a:rPr>
              <a:t>Milestone 2 · MLOps infrastructure</a:t>
            </a:r>
          </a:p>
        </p:txBody>
      </p:sp>
      <p:sp>
        <p:nvSpPr>
          <p:cNvPr id="5" name="">
            <a:extLst xmlns:a="http://schemas.openxmlformats.org/drawingml/2006/main">
              <a:ext uri="{FF2B5EF4-FFF2-40B4-BE49-F238E27FC236}">
                <a16:creationId xmlns:a16="http://schemas.microsoft.com/office/drawing/2014/main" id="{D3238076-50EB-4082-AAE2-261D29C6F087}"/>
              </a:ext>
            </a:extLst>
          </p:cNvPr>
          <p:cNvSpPr>
            <a:spLocks xmlns:a="http://schemas.openxmlformats.org/drawingml/2006/main" noGrp="1"/>
          </p:cNvSpPr>
          <p:nvPr/>
        </p:nvSpPr>
        <p:spPr>
          <a:xfrm xmlns:a="http://schemas.openxmlformats.org/drawingml/2006/main">
            <a:off x="609600" y="5476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a:solidFill>
                  <a:srgbClr val="B14F35"/>
                </a:solidFill>
                <a:latin typeface="Arial"/>
                <a:ea typeface="Arial"/>
                <a:cs typeface="Arial"/>
              </a:defRPr>
            </a:defPPr>
          </a:lstStyle>
          <a:p xmlns:a="http://schemas.openxmlformats.org/drawingml/2006/main">
            <a:pPr>
              <a:defRPr sz="1950">
                <a:solidFill>
                  <a:srgbClr val="B14F35"/>
                </a:solidFill>
                <a:latin typeface="Arial"/>
                <a:ea typeface="Arial"/>
                <a:cs typeface="Arial"/>
              </a:defRPr>
            </a:pPr>
            <a:r>
              <a:rPr sz="1950">
                <a:solidFill>
                  <a:srgbClr val="B14F35"/>
                </a:solidFill>
                <a:latin typeface="Arial"/>
                <a:ea typeface="Arial"/>
                <a:cs typeface="Arial"/>
              </a:rPr>
              <a:t>Boston · Cambridge · Somerville</a:t>
            </a:r>
          </a:p>
        </p:txBody>
      </p:sp>
    </p:spTree>
    <p:extLst>
      <p:ext uri="{BB962C8B-B14F-4D97-AF65-F5344CB8AC3E}">
        <p14:creationId xmlns:p14="http://schemas.microsoft.com/office/powerpoint/2010/main" val="2128178202"/>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530106-E4A9-47EF-8F75-85047D047A33}"/>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Product scope</a:t>
            </a:r>
          </a:p>
        </p:txBody>
      </p:sp>
      <p:sp>
        <p:nvSpPr>
          <p:cNvPr id="2" name="">
            <a:extLst xmlns:a="http://schemas.openxmlformats.org/drawingml/2006/main">
              <a:ext uri="{FF2B5EF4-FFF2-40B4-BE49-F238E27FC236}">
                <a16:creationId xmlns:a16="http://schemas.microsoft.com/office/drawing/2014/main" id="{D8675018-C03A-4362-9291-220123599CDF}"/>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02  /  RoamWise · AC215 MS2</a:t>
            </a:r>
          </a:p>
        </p:txBody>
      </p:sp>
      <p:sp>
        <p:nvSpPr>
          <p:cNvPr id="3" name="">
            <a:extLst xmlns:a="http://schemas.openxmlformats.org/drawingml/2006/main">
              <a:ext uri="{FF2B5EF4-FFF2-40B4-BE49-F238E27FC236}">
                <a16:creationId xmlns:a16="http://schemas.microsoft.com/office/drawing/2014/main" id="{E26ECF07-88B2-4978-BDE3-B942E67ECEA5}"/>
              </a:ext>
            </a:extLst>
          </p:cNvPr>
          <p:cNvSpPr>
            <a:spLocks xmlns:a="http://schemas.openxmlformats.org/drawingml/2006/main" noGrp="1"/>
          </p:cNvSpPr>
          <p:nvPr/>
        </p:nvSpPr>
        <p:spPr>
          <a:xfrm xmlns:a="http://schemas.openxmlformats.org/drawingml/2006/main">
            <a:off x="609600" y="15240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C33"/>
                </a:solidFill>
                <a:latin typeface="Arial"/>
                <a:ea typeface="Arial"/>
                <a:cs typeface="Arial"/>
              </a:defRPr>
            </a:defPPr>
          </a:lstStyle>
          <a:p xmlns:a="http://schemas.openxmlformats.org/drawingml/2006/main">
            <a:pPr>
              <a:defRPr sz="2250" b="1">
                <a:solidFill>
                  <a:srgbClr val="183C33"/>
                </a:solidFill>
                <a:latin typeface="Arial"/>
                <a:ea typeface="Arial"/>
                <a:cs typeface="Arial"/>
              </a:defRPr>
            </a:pPr>
            <a:r>
              <a:rPr sz="2250" b="1">
                <a:solidFill>
                  <a:srgbClr val="183C33"/>
                </a:solidFill>
                <a:latin typeface="Arial"/>
                <a:ea typeface="Arial"/>
                <a:cs typeface="Arial"/>
              </a:rPr>
              <a:t>Input</a:t>
            </a:r>
          </a:p>
        </p:txBody>
      </p:sp>
      <p:sp>
        <p:nvSpPr>
          <p:cNvPr id="4" name="">
            <a:extLst xmlns:a="http://schemas.openxmlformats.org/drawingml/2006/main">
              <a:ext uri="{FF2B5EF4-FFF2-40B4-BE49-F238E27FC236}">
                <a16:creationId xmlns:a16="http://schemas.microsoft.com/office/drawing/2014/main" id="{42B846B0-6ACB-42F5-A106-C3C8F57904D0}"/>
              </a:ext>
            </a:extLst>
          </p:cNvPr>
          <p:cNvSpPr>
            <a:spLocks xmlns:a="http://schemas.openxmlformats.org/drawingml/2006/main" noGrp="1"/>
          </p:cNvSpPr>
          <p:nvPr/>
        </p:nvSpPr>
        <p:spPr>
          <a:xfrm xmlns:a="http://schemas.openxmlformats.org/drawingml/2006/main">
            <a:off x="609600" y="2038350"/>
            <a:ext cx="3714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A preference in plain English,</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an area and an optional type.</a:t>
            </a:r>
          </a:p>
        </p:txBody>
      </p:sp>
      <p:sp>
        <p:nvSpPr>
          <p:cNvPr id="5" name="">
            <a:extLst xmlns:a="http://schemas.openxmlformats.org/drawingml/2006/main">
              <a:ext uri="{FF2B5EF4-FFF2-40B4-BE49-F238E27FC236}">
                <a16:creationId xmlns:a16="http://schemas.microsoft.com/office/drawing/2014/main" id="{FC2E6DFD-7BE2-40C7-A4F7-930F2F39F1F1}"/>
              </a:ext>
            </a:extLst>
          </p:cNvPr>
          <p:cNvSpPr>
            <a:spLocks xmlns:a="http://schemas.openxmlformats.org/drawingml/2006/main" noGrp="1"/>
          </p:cNvSpPr>
          <p:nvPr/>
        </p:nvSpPr>
        <p:spPr>
          <a:xfrm xmlns:a="http://schemas.openxmlformats.org/drawingml/2006/main">
            <a:off x="609600" y="347662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C33"/>
                </a:solidFill>
                <a:latin typeface="Arial"/>
                <a:ea typeface="Arial"/>
                <a:cs typeface="Arial"/>
              </a:defRPr>
            </a:defPPr>
          </a:lstStyle>
          <a:p xmlns:a="http://schemas.openxmlformats.org/drawingml/2006/main">
            <a:pPr>
              <a:defRPr sz="2250" b="1">
                <a:solidFill>
                  <a:srgbClr val="183C33"/>
                </a:solidFill>
                <a:latin typeface="Arial"/>
                <a:ea typeface="Arial"/>
                <a:cs typeface="Arial"/>
              </a:defRPr>
            </a:pPr>
            <a:r>
              <a:rPr sz="2250" b="1">
                <a:solidFill>
                  <a:srgbClr val="183C33"/>
                </a:solidFill>
                <a:latin typeface="Arial"/>
                <a:ea typeface="Arial"/>
                <a:cs typeface="Arial"/>
              </a:rPr>
              <a:t>Output</a:t>
            </a:r>
          </a:p>
        </p:txBody>
      </p:sp>
      <p:sp>
        <p:nvSpPr>
          <p:cNvPr id="6" name="">
            <a:extLst xmlns:a="http://schemas.openxmlformats.org/drawingml/2006/main">
              <a:ext uri="{FF2B5EF4-FFF2-40B4-BE49-F238E27FC236}">
                <a16:creationId xmlns:a16="http://schemas.microsoft.com/office/drawing/2014/main" id="{853873A0-33A5-46C0-AD41-D4A63B6507C8}"/>
              </a:ext>
            </a:extLst>
          </p:cNvPr>
          <p:cNvSpPr>
            <a:spLocks xmlns:a="http://schemas.openxmlformats.org/drawingml/2006/main" noGrp="1"/>
          </p:cNvSpPr>
          <p:nvPr/>
        </p:nvSpPr>
        <p:spPr>
          <a:xfrm xmlns:a="http://schemas.openxmlformats.org/drawingml/2006/main">
            <a:off x="609600" y="4000500"/>
            <a:ext cx="3714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Ranked places, source passages</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and a saved shortlist.</a:t>
            </a:r>
          </a:p>
        </p:txBody>
      </p:sp>
      <p:pic>
        <p:nvPicPr>
          <p:cNvPr id="7" name="">
            <a:extLst xmlns:a="http://schemas.openxmlformats.org/drawingml/2006/main">
              <a:ext uri="{FF2B5EF4-FFF2-40B4-BE49-F238E27FC236}">
                <a16:creationId xmlns:a16="http://schemas.microsoft.com/office/drawing/2014/main" id="{4D83FBDC-C88D-4ADE-954A-F2D1004EC17C}"/>
              </a:ext>
            </a:extLst>
          </p:cNvPr>
          <p:cNvPicPr>
            <a:picLocks xmlns:a="http://schemas.openxmlformats.org/drawingml/2006/main" noChangeAspect="1"/>
          </p:cNvPicPr>
          <p:nvPr/>
        </p:nvPicPr>
        <p:blipFill>
          <a:blip xmlns:r="http://schemas.openxmlformats.org/officeDocument/2006/relationships" xmlns:a="http://schemas.openxmlformats.org/drawingml/2006/main" r:embed="R5d2aab42601b4a84"/>
          <a:stretch xmlns:a="http://schemas.openxmlformats.org/drawingml/2006/main"/>
        </p:blipFill>
        <p:spPr>
          <a:xfrm xmlns:a="http://schemas.openxmlformats.org/drawingml/2006/main">
            <a:off x="4552950" y="1546002"/>
            <a:ext cx="7029450" cy="395649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20B094C-F2D8-4378-A177-180B52495D19}"/>
              </a:ext>
            </a:extLst>
          </p:cNvPr>
          <p:cNvSpPr>
            <a:spLocks xmlns:a="http://schemas.openxmlformats.org/drawingml/2006/main" noGrp="1"/>
          </p:cNvSpPr>
          <p:nvPr/>
        </p:nvSpPr>
        <p:spPr>
          <a:xfrm xmlns:a="http://schemas.openxmlformats.org/drawingml/2006/main">
            <a:off x="609600" y="5715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a:solidFill>
                  <a:srgbClr val="B14F35"/>
                </a:solidFill>
                <a:latin typeface="Arial"/>
                <a:ea typeface="Arial"/>
                <a:cs typeface="Arial"/>
              </a:defRPr>
            </a:defPPr>
          </a:lstStyle>
          <a:p xmlns:a="http://schemas.openxmlformats.org/drawingml/2006/main">
            <a:pPr>
              <a:defRPr sz="1875">
                <a:solidFill>
                  <a:srgbClr val="B14F35"/>
                </a:solidFill>
                <a:latin typeface="Arial"/>
                <a:ea typeface="Arial"/>
                <a:cs typeface="Arial"/>
              </a:defRPr>
            </a:pPr>
            <a:r>
              <a:rPr sz="1875">
                <a:solidFill>
                  <a:srgbClr val="B14F35"/>
                </a:solidFill>
                <a:latin typeface="Arial"/>
                <a:ea typeface="Arial"/>
                <a:cs typeface="Arial"/>
              </a:rPr>
              <a:t>Historical search, not live availability or route planning.</a:t>
            </a:r>
          </a:p>
        </p:txBody>
      </p:sp>
    </p:spTree>
    <p:extLst>
      <p:ext uri="{BB962C8B-B14F-4D97-AF65-F5344CB8AC3E}">
        <p14:creationId xmlns:p14="http://schemas.microsoft.com/office/powerpoint/2010/main" val="987377141"/>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928EAE-9B70-4352-9C3C-6AFB5A8B220E}"/>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Pilot dataset</a:t>
            </a:r>
          </a:p>
        </p:txBody>
      </p:sp>
      <p:sp>
        <p:nvSpPr>
          <p:cNvPr id="2" name="">
            <a:extLst xmlns:a="http://schemas.openxmlformats.org/drawingml/2006/main">
              <a:ext uri="{FF2B5EF4-FFF2-40B4-BE49-F238E27FC236}">
                <a16:creationId xmlns:a16="http://schemas.microsoft.com/office/drawing/2014/main" id="{D8387FAE-B158-4A2A-A3BC-2D71C0FFD325}"/>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03  /  RoamWise · AC215 MS2</a:t>
            </a:r>
          </a:p>
        </p:txBody>
      </p:sp>
      <p:sp>
        <p:nvSpPr>
          <p:cNvPr id="3" name="">
            <a:extLst xmlns:a="http://schemas.openxmlformats.org/drawingml/2006/main">
              <a:ext uri="{FF2B5EF4-FFF2-40B4-BE49-F238E27FC236}">
                <a16:creationId xmlns:a16="http://schemas.microsoft.com/office/drawing/2014/main" id="{CEEC1E87-CBDE-45E3-ABFF-8B6B12EC503A}"/>
              </a:ext>
            </a:extLst>
          </p:cNvPr>
          <p:cNvSpPr>
            <a:spLocks xmlns:a="http://schemas.openxmlformats.org/drawingml/2006/main" noGrp="1"/>
          </p:cNvSpPr>
          <p:nvPr/>
        </p:nvSpPr>
        <p:spPr>
          <a:xfrm xmlns:a="http://schemas.openxmlformats.org/drawingml/2006/main">
            <a:off x="609600" y="15240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C33"/>
                </a:solidFill>
                <a:latin typeface="Arial"/>
                <a:ea typeface="Arial"/>
                <a:cs typeface="Arial"/>
              </a:defRPr>
            </a:defPPr>
          </a:lstStyle>
          <a:p xmlns:a="http://schemas.openxmlformats.org/drawingml/2006/main">
            <a:pPr>
              <a:defRPr sz="3000" b="1">
                <a:solidFill>
                  <a:srgbClr val="183C33"/>
                </a:solidFill>
                <a:latin typeface="Arial"/>
                <a:ea typeface="Arial"/>
                <a:cs typeface="Arial"/>
              </a:defRPr>
            </a:pPr>
            <a:r>
              <a:rPr sz="3000" b="1">
                <a:solidFill>
                  <a:srgbClr val="183C33"/>
                </a:solidFill>
                <a:latin typeface="Arial"/>
                <a:ea typeface="Arial"/>
                <a:cs typeface="Arial"/>
              </a:rPr>
              <a:t>500 places     3,000 reviews     3,976 chunks</a:t>
            </a:r>
          </a:p>
        </p:txBody>
      </p:sp>
      <p:graphicFrame>
        <p:nvGraphicFramePr>
          <p:cNvPr id="4" name="">
            <a:extLst xmlns:a="http://schemas.openxmlformats.org/drawingml/2006/main">
              <a:ext uri="{FF2B5EF4-FFF2-40B4-BE49-F238E27FC236}">
                <a16:creationId xmlns:a16="http://schemas.microsoft.com/office/drawing/2014/main" id="{17597EF7-6888-486B-A03C-72AF3A636327}"/>
              </a:ext>
            </a:extLst>
          </p:cNvPr>
          <p:cNvGraphicFramePr/>
          <p:nvPr/>
        </p:nvGraphicFramePr>
        <p:xfrm>
          <a:off xmlns:a="http://schemas.openxmlformats.org/drawingml/2006/main" x="609600" y="2571750"/>
          <a:ext xmlns:a="http://schemas.openxmlformats.org/drawingml/2006/main" cx="6286500" cy="2571750"/>
        </p:xfrm>
        <a:graphic xmlns:a="http://schemas.openxmlformats.org/drawingml/2006/main">
          <a:graphicData uri="http://schemas.openxmlformats.org/drawingml/2006/table">
            <a:tbl>
              <a:tblPr/>
              <a:tblGrid>
                <a:gridCol w="4095750"/>
                <a:gridCol w="2190750"/>
              </a:tblGrid>
              <a:tr h="642938">
                <a:tc>
                  <a:txBody>
                    <a:bodyPr/>
                    <a:lstStyle/>
                    <a:p>
                      <a:r>
                        <a:rPr sz="1875" b="1">
                          <a:solidFill>
                            <a:srgbClr val="FFFFFF"/>
                          </a:solidFill>
                          <a:latin typeface="Arial"/>
                          <a:ea typeface="Arial"/>
                          <a:cs typeface="Arial"/>
                        </a:rPr>
                        <a:t>City</a:t>
                      </a:r>
                    </a:p>
                  </a:txBody>
                  <a:tcPr marL="91440" marR="91440" marT="45720" marB="45720">
                    <a:lnL w="9525">
                      <a:solidFill>
                        <a:srgbClr val="D7DCCD"/>
                      </a:solidFill>
                    </a:lnL>
                    <a:lnR w="9525">
                      <a:solidFill>
                        <a:srgbClr val="D7DCCD"/>
                      </a:solidFill>
                    </a:lnR>
                    <a:lnT w="9525">
                      <a:solidFill>
                        <a:srgbClr val="D7DCCD"/>
                      </a:solidFill>
                    </a:lnT>
                    <a:lnB w="9525">
                      <a:solidFill>
                        <a:srgbClr val="D7DCCD"/>
                      </a:solidFill>
                    </a:lnB>
                    <a:solidFill>
                      <a:srgbClr val="183C33"/>
                    </a:solidFill>
                  </a:tcPr>
                </a:tc>
                <a:tc>
                  <a:txBody>
                    <a:bodyPr/>
                    <a:lstStyle/>
                    <a:p>
                      <a:r>
                        <a:rPr sz="1875" b="1">
                          <a:solidFill>
                            <a:srgbClr val="FFFFFF"/>
                          </a:solidFill>
                          <a:latin typeface="Arial"/>
                          <a:ea typeface="Arial"/>
                          <a:cs typeface="Arial"/>
                        </a:rPr>
                        <a:t>Places</a:t>
                      </a:r>
                    </a:p>
                  </a:txBody>
                  <a:tcPr marL="91440" marR="91440" marT="45720" marB="45720">
                    <a:lnR w="9525">
                      <a:solidFill>
                        <a:srgbClr val="D7DCCD"/>
                      </a:solidFill>
                    </a:lnR>
                    <a:lnT w="9525">
                      <a:solidFill>
                        <a:srgbClr val="D7DCCD"/>
                      </a:solidFill>
                    </a:lnT>
                    <a:lnB w="9525">
                      <a:solidFill>
                        <a:srgbClr val="D7DCCD"/>
                      </a:solidFill>
                    </a:lnB>
                    <a:solidFill>
                      <a:srgbClr val="183C33"/>
                    </a:solidFill>
                  </a:tcPr>
                </a:tc>
              </a:tr>
              <a:tr h="642938">
                <a:tc>
                  <a:txBody>
                    <a:bodyPr/>
                    <a:lstStyle/>
                    <a:p>
                      <a:r>
                        <a:rPr sz="1875" b="0">
                          <a:solidFill>
                            <a:srgbClr val="183C33"/>
                          </a:solidFill>
                          <a:latin typeface="Arial"/>
                          <a:ea typeface="Arial"/>
                          <a:cs typeface="Arial"/>
                        </a:rPr>
                        <a:t>Boston</a:t>
                      </a:r>
                    </a:p>
                  </a:txBody>
                  <a:tcPr marL="91440" marR="91440" marT="45720" marB="45720">
                    <a:lnL w="9525">
                      <a:solidFill>
                        <a:srgbClr val="D7DCCD"/>
                      </a:solidFill>
                    </a:lnL>
                    <a:lnR w="9525">
                      <a:solidFill>
                        <a:srgbClr val="D7DCCD"/>
                      </a:solidFill>
                    </a:lnR>
                    <a:lnB w="9525">
                      <a:solidFill>
                        <a:srgbClr val="D7DCCD"/>
                      </a:solidFill>
                    </a:lnB>
                    <a:solidFill>
                      <a:srgbClr val="FFFEF9"/>
                    </a:solidFill>
                  </a:tcPr>
                </a:tc>
                <a:tc>
                  <a:txBody>
                    <a:bodyPr/>
                    <a:lstStyle/>
                    <a:p>
                      <a:r>
                        <a:rPr sz="1875" b="0">
                          <a:solidFill>
                            <a:srgbClr val="183C33"/>
                          </a:solidFill>
                          <a:latin typeface="Arial"/>
                          <a:ea typeface="Arial"/>
                          <a:cs typeface="Arial"/>
                        </a:rPr>
                        <a:t>383</a:t>
                      </a:r>
                    </a:p>
                  </a:txBody>
                  <a:tcPr marL="91440" marR="91440" marT="45720" marB="45720">
                    <a:lnR w="9525">
                      <a:solidFill>
                        <a:srgbClr val="D7DCCD"/>
                      </a:solidFill>
                    </a:lnR>
                    <a:lnB w="9525">
                      <a:solidFill>
                        <a:srgbClr val="D7DCCD"/>
                      </a:solidFill>
                    </a:lnB>
                    <a:solidFill>
                      <a:srgbClr val="FFFEF9"/>
                    </a:solidFill>
                  </a:tcPr>
                </a:tc>
              </a:tr>
              <a:tr h="642938">
                <a:tc>
                  <a:txBody>
                    <a:bodyPr/>
                    <a:lstStyle/>
                    <a:p>
                      <a:r>
                        <a:rPr sz="1875" b="0">
                          <a:solidFill>
                            <a:srgbClr val="183C33"/>
                          </a:solidFill>
                          <a:latin typeface="Arial"/>
                          <a:ea typeface="Arial"/>
                          <a:cs typeface="Arial"/>
                        </a:rPr>
                        <a:t>Somerville</a:t>
                      </a:r>
                    </a:p>
                  </a:txBody>
                  <a:tcPr marL="91440" marR="91440" marT="45720" marB="45720">
                    <a:lnL w="9525">
                      <a:solidFill>
                        <a:srgbClr val="D7DCCD"/>
                      </a:solidFill>
                    </a:lnL>
                    <a:lnR w="9525">
                      <a:solidFill>
                        <a:srgbClr val="D7DCCD"/>
                      </a:solidFill>
                    </a:lnR>
                    <a:lnB w="9525">
                      <a:solidFill>
                        <a:srgbClr val="D7DCCD"/>
                      </a:solidFill>
                    </a:lnB>
                    <a:solidFill>
                      <a:srgbClr val="FFFEF9"/>
                    </a:solidFill>
                  </a:tcPr>
                </a:tc>
                <a:tc>
                  <a:txBody>
                    <a:bodyPr/>
                    <a:lstStyle/>
                    <a:p>
                      <a:r>
                        <a:rPr sz="1875" b="0">
                          <a:solidFill>
                            <a:srgbClr val="183C33"/>
                          </a:solidFill>
                          <a:latin typeface="Arial"/>
                          <a:ea typeface="Arial"/>
                          <a:cs typeface="Arial"/>
                        </a:rPr>
                        <a:t>25</a:t>
                      </a:r>
                    </a:p>
                  </a:txBody>
                  <a:tcPr marL="91440" marR="91440" marT="45720" marB="45720">
                    <a:lnR w="9525">
                      <a:solidFill>
                        <a:srgbClr val="D7DCCD"/>
                      </a:solidFill>
                    </a:lnR>
                    <a:lnB w="9525">
                      <a:solidFill>
                        <a:srgbClr val="D7DCCD"/>
                      </a:solidFill>
                    </a:lnB>
                    <a:solidFill>
                      <a:srgbClr val="FFFEF9"/>
                    </a:solidFill>
                  </a:tcPr>
                </a:tc>
              </a:tr>
              <a:tr h="642938">
                <a:tc>
                  <a:txBody>
                    <a:bodyPr/>
                    <a:lstStyle/>
                    <a:p>
                      <a:r>
                        <a:rPr sz="1875" b="0">
                          <a:solidFill>
                            <a:srgbClr val="183C33"/>
                          </a:solidFill>
                          <a:latin typeface="Arial"/>
                          <a:ea typeface="Arial"/>
                          <a:cs typeface="Arial"/>
                        </a:rPr>
                        <a:t>Cambridge</a:t>
                      </a:r>
                    </a:p>
                  </a:txBody>
                  <a:tcPr marL="91440" marR="91440" marT="45720" marB="45720">
                    <a:lnL w="9525">
                      <a:solidFill>
                        <a:srgbClr val="D7DCCD"/>
                      </a:solidFill>
                    </a:lnL>
                    <a:lnR w="9525">
                      <a:solidFill>
                        <a:srgbClr val="D7DCCD"/>
                      </a:solidFill>
                    </a:lnR>
                    <a:lnB w="9525">
                      <a:solidFill>
                        <a:srgbClr val="D7DCCD"/>
                      </a:solidFill>
                    </a:lnB>
                    <a:solidFill>
                      <a:srgbClr val="FFFEF9"/>
                    </a:solidFill>
                  </a:tcPr>
                </a:tc>
                <a:tc>
                  <a:txBody>
                    <a:bodyPr/>
                    <a:lstStyle/>
                    <a:p>
                      <a:r>
                        <a:rPr sz="1875" b="0">
                          <a:solidFill>
                            <a:srgbClr val="183C33"/>
                          </a:solidFill>
                          <a:latin typeface="Arial"/>
                          <a:ea typeface="Arial"/>
                          <a:cs typeface="Arial"/>
                        </a:rPr>
                        <a:t>92</a:t>
                      </a:r>
                    </a:p>
                  </a:txBody>
                  <a:tcPr marL="91440" marR="91440" marT="45720" marB="45720">
                    <a:lnR w="9525">
                      <a:solidFill>
                        <a:srgbClr val="D7DCCD"/>
                      </a:solidFill>
                    </a:lnR>
                    <a:lnB w="9525">
                      <a:solidFill>
                        <a:srgbClr val="D7DCCD"/>
                      </a:solidFill>
                    </a:lnB>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0B1E5F3D-E066-4C0C-B1F7-F88C6BE4EE3D}"/>
              </a:ext>
            </a:extLst>
          </p:cNvPr>
          <p:cNvSpPr>
            <a:spLocks xmlns:a="http://schemas.openxmlformats.org/drawingml/2006/main" noGrp="1"/>
          </p:cNvSpPr>
          <p:nvPr/>
        </p:nvSpPr>
        <p:spPr>
          <a:xfrm xmlns:a="http://schemas.openxmlformats.org/drawingml/2006/main">
            <a:off x="7524750" y="266700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C33"/>
                </a:solidFill>
                <a:latin typeface="Arial"/>
                <a:ea typeface="Arial"/>
                <a:cs typeface="Arial"/>
              </a:defRPr>
            </a:defPPr>
          </a:lstStyle>
          <a:p xmlns:a="http://schemas.openxmlformats.org/drawingml/2006/main">
            <a:pPr>
              <a:defRPr sz="2175" b="1">
                <a:solidFill>
                  <a:srgbClr val="183C33"/>
                </a:solidFill>
                <a:latin typeface="Arial"/>
                <a:ea typeface="Arial"/>
                <a:cs typeface="Arial"/>
              </a:defRPr>
            </a:pPr>
            <a:r>
              <a:rPr sz="2175" b="1">
                <a:solidFill>
                  <a:srgbClr val="183C33"/>
                </a:solidFill>
                <a:latin typeface="Arial"/>
                <a:ea typeface="Arial"/>
                <a:cs typeface="Arial"/>
              </a:rPr>
              <a:t>Four broad categories</a:t>
            </a:r>
          </a:p>
        </p:txBody>
      </p:sp>
      <p:sp>
        <p:nvSpPr>
          <p:cNvPr id="6" name="">
            <a:extLst xmlns:a="http://schemas.openxmlformats.org/drawingml/2006/main">
              <a:ext uri="{FF2B5EF4-FFF2-40B4-BE49-F238E27FC236}">
                <a16:creationId xmlns:a16="http://schemas.microsoft.com/office/drawing/2014/main" id="{8D163973-7A14-4B48-B49B-37BC0401B105}"/>
              </a:ext>
            </a:extLst>
          </p:cNvPr>
          <p:cNvSpPr>
            <a:spLocks xmlns:a="http://schemas.openxmlformats.org/drawingml/2006/main" noGrp="1"/>
          </p:cNvSpPr>
          <p:nvPr/>
        </p:nvSpPr>
        <p:spPr>
          <a:xfrm xmlns:a="http://schemas.openxmlformats.org/drawingml/2006/main">
            <a:off x="7524750" y="3286125"/>
            <a:ext cx="3905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Culture · Food</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Lodging · Outdoors</a:t>
            </a:r>
          </a:p>
          <a:p xmlns:a="http://schemas.openxmlformats.org/drawingml/2006/main">
            <a:r>
              <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125 places per category</a:t>
            </a:r>
          </a:p>
        </p:txBody>
      </p:sp>
      <p:sp>
        <p:nvSpPr>
          <p:cNvPr id="7" name="">
            <a:extLst xmlns:a="http://schemas.openxmlformats.org/drawingml/2006/main">
              <a:ext uri="{FF2B5EF4-FFF2-40B4-BE49-F238E27FC236}">
                <a16:creationId xmlns:a16="http://schemas.microsoft.com/office/drawing/2014/main" id="{032D8C59-CA62-4355-B05E-BAA27820A1EB}"/>
              </a:ext>
            </a:extLst>
          </p:cNvPr>
          <p:cNvSpPr>
            <a:spLocks xmlns:a="http://schemas.openxmlformats.org/drawingml/2006/main" noGrp="1"/>
          </p:cNvSpPr>
          <p:nvPr/>
        </p:nvSpPr>
        <p:spPr>
          <a:xfrm xmlns:a="http://schemas.openxmlformats.org/drawingml/2006/main">
            <a:off x="609600" y="55721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a:solidFill>
                  <a:srgbClr val="B14F35"/>
                </a:solidFill>
                <a:latin typeface="Arial"/>
                <a:ea typeface="Arial"/>
                <a:cs typeface="Arial"/>
              </a:defRPr>
            </a:defPPr>
          </a:lstStyle>
          <a:p xmlns:a="http://schemas.openxmlformats.org/drawingml/2006/main">
            <a:pPr>
              <a:defRPr sz="1875">
                <a:solidFill>
                  <a:srgbClr val="B14F35"/>
                </a:solidFill>
                <a:latin typeface="Arial"/>
                <a:ea typeface="Arial"/>
                <a:cs typeface="Arial"/>
              </a:defRPr>
            </a:pPr>
            <a:r>
              <a:rPr sz="1875">
                <a:solidFill>
                  <a:srgbClr val="B14F35"/>
                </a:solidFill>
                <a:latin typeface="Arial"/>
                <a:ea typeface="Arial"/>
                <a:cs typeface="Arial"/>
              </a:rPr>
              <a:t>Data ends in September 2021. The sample favors frequently reviewed places.</a:t>
            </a:r>
          </a:p>
        </p:txBody>
      </p:sp>
    </p:spTree>
    <p:extLst>
      <p:ext uri="{BB962C8B-B14F-4D97-AF65-F5344CB8AC3E}">
        <p14:creationId xmlns:p14="http://schemas.microsoft.com/office/powerpoint/2010/main" val="631344066"/>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1C62D7-FCD5-456B-90D6-969D1D069A02}"/>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Container pipeline</a:t>
            </a:r>
          </a:p>
        </p:txBody>
      </p:sp>
      <p:sp>
        <p:nvSpPr>
          <p:cNvPr id="2" name="">
            <a:extLst xmlns:a="http://schemas.openxmlformats.org/drawingml/2006/main">
              <a:ext uri="{FF2B5EF4-FFF2-40B4-BE49-F238E27FC236}">
                <a16:creationId xmlns:a16="http://schemas.microsoft.com/office/drawing/2014/main" id="{909AF655-CB7B-435D-9A19-10C572D75A9A}"/>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04  /  RoamWise · AC215 MS2</a:t>
            </a:r>
          </a:p>
        </p:txBody>
      </p:sp>
      <p:sp>
        <p:nvSpPr>
          <p:cNvPr id="3" name="">
            <a:extLst xmlns:a="http://schemas.openxmlformats.org/drawingml/2006/main">
              <a:ext uri="{FF2B5EF4-FFF2-40B4-BE49-F238E27FC236}">
                <a16:creationId xmlns:a16="http://schemas.microsoft.com/office/drawing/2014/main" id="{5DA2CED9-4562-437A-A3F9-F62671CA798A}"/>
              </a:ext>
            </a:extLst>
          </p:cNvPr>
          <p:cNvSpPr>
            <a:spLocks xmlns:a="http://schemas.openxmlformats.org/drawingml/2006/main" noGrp="1"/>
          </p:cNvSpPr>
          <p:nvPr/>
        </p:nvSpPr>
        <p:spPr>
          <a:xfrm xmlns:a="http://schemas.openxmlformats.org/drawingml/2006/main">
            <a:off x="609600" y="15716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C33"/>
                </a:solidFill>
                <a:latin typeface="Arial"/>
                <a:ea typeface="Arial"/>
                <a:cs typeface="Arial"/>
              </a:defRPr>
            </a:defPPr>
          </a:lstStyle>
          <a:p xmlns:a="http://schemas.openxmlformats.org/drawingml/2006/main">
            <a:pPr>
              <a:defRPr sz="2100" b="1">
                <a:solidFill>
                  <a:srgbClr val="183C33"/>
                </a:solidFill>
                <a:latin typeface="Arial"/>
                <a:ea typeface="Arial"/>
                <a:cs typeface="Arial"/>
              </a:defRPr>
            </a:pPr>
            <a:r>
              <a:rPr sz="2100" b="1">
                <a:solidFill>
                  <a:srgbClr val="183C33"/>
                </a:solidFill>
                <a:latin typeface="Arial"/>
                <a:ea typeface="Arial"/>
                <a:cs typeface="Arial"/>
              </a:rPr>
              <a:t>01  Ingest</a:t>
            </a:r>
          </a:p>
        </p:txBody>
      </p:sp>
      <p:sp>
        <p:nvSpPr>
          <p:cNvPr id="4" name="">
            <a:extLst xmlns:a="http://schemas.openxmlformats.org/drawingml/2006/main">
              <a:ext uri="{FF2B5EF4-FFF2-40B4-BE49-F238E27FC236}">
                <a16:creationId xmlns:a16="http://schemas.microsoft.com/office/drawing/2014/main" id="{0EFACACF-165C-4EEA-8685-F474A6D14E85}"/>
              </a:ext>
            </a:extLst>
          </p:cNvPr>
          <p:cNvSpPr>
            <a:spLocks xmlns:a="http://schemas.openxmlformats.org/drawingml/2006/main" noGrp="1"/>
          </p:cNvSpPr>
          <p:nvPr/>
        </p:nvSpPr>
        <p:spPr>
          <a:xfrm xmlns:a="http://schemas.openxmlformats.org/drawingml/2006/main">
            <a:off x="3286125" y="15716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Download source files and verify SHA-256</a:t>
            </a:r>
          </a:p>
        </p:txBody>
      </p:sp>
      <p:sp>
        <p:nvSpPr>
          <p:cNvPr id="5" name="">
            <a:extLst xmlns:a="http://schemas.openxmlformats.org/drawingml/2006/main">
              <a:ext uri="{FF2B5EF4-FFF2-40B4-BE49-F238E27FC236}">
                <a16:creationId xmlns:a16="http://schemas.microsoft.com/office/drawing/2014/main" id="{8C11BBCF-37EC-482D-ABD8-A19A817F453E}"/>
              </a:ext>
            </a:extLst>
          </p:cNvPr>
          <p:cNvSpPr>
            <a:spLocks xmlns:a="http://schemas.openxmlformats.org/drawingml/2006/main" noGrp="1"/>
          </p:cNvSpPr>
          <p:nvPr/>
        </p:nvSpPr>
        <p:spPr>
          <a:xfrm xmlns:a="http://schemas.openxmlformats.org/drawingml/2006/main">
            <a:off x="609600" y="22955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C33"/>
                </a:solidFill>
                <a:latin typeface="Arial"/>
                <a:ea typeface="Arial"/>
                <a:cs typeface="Arial"/>
              </a:defRPr>
            </a:defPPr>
          </a:lstStyle>
          <a:p xmlns:a="http://schemas.openxmlformats.org/drawingml/2006/main">
            <a:pPr>
              <a:defRPr sz="2100" b="1">
                <a:solidFill>
                  <a:srgbClr val="183C33"/>
                </a:solidFill>
                <a:latin typeface="Arial"/>
                <a:ea typeface="Arial"/>
                <a:cs typeface="Arial"/>
              </a:defRPr>
            </a:pPr>
            <a:r>
              <a:rPr sz="2100" b="1">
                <a:solidFill>
                  <a:srgbClr val="183C33"/>
                </a:solidFill>
                <a:latin typeface="Arial"/>
                <a:ea typeface="Arial"/>
                <a:cs typeface="Arial"/>
              </a:rPr>
              <a:t>02  Prepare</a:t>
            </a:r>
          </a:p>
        </p:txBody>
      </p:sp>
      <p:sp>
        <p:nvSpPr>
          <p:cNvPr id="6" name="">
            <a:extLst xmlns:a="http://schemas.openxmlformats.org/drawingml/2006/main">
              <a:ext uri="{FF2B5EF4-FFF2-40B4-BE49-F238E27FC236}">
                <a16:creationId xmlns:a16="http://schemas.microsoft.com/office/drawing/2014/main" id="{78664C53-81A7-4708-ACCB-F17F47A4C9DE}"/>
              </a:ext>
            </a:extLst>
          </p:cNvPr>
          <p:cNvSpPr>
            <a:spLocks xmlns:a="http://schemas.openxmlformats.org/drawingml/2006/main" noGrp="1"/>
          </p:cNvSpPr>
          <p:nvPr/>
        </p:nvSpPr>
        <p:spPr>
          <a:xfrm xmlns:a="http://schemas.openxmlformats.org/drawingml/2006/main">
            <a:off x="3286125" y="22955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Filter places, deduplicate reviews and chunk text</a:t>
            </a:r>
          </a:p>
        </p:txBody>
      </p:sp>
      <p:sp>
        <p:nvSpPr>
          <p:cNvPr id="7" name="">
            <a:extLst xmlns:a="http://schemas.openxmlformats.org/drawingml/2006/main">
              <a:ext uri="{FF2B5EF4-FFF2-40B4-BE49-F238E27FC236}">
                <a16:creationId xmlns:a16="http://schemas.microsoft.com/office/drawing/2014/main" id="{658FCA58-53EA-43CC-85DB-C87C1C477201}"/>
              </a:ext>
            </a:extLst>
          </p:cNvPr>
          <p:cNvSpPr>
            <a:spLocks xmlns:a="http://schemas.openxmlformats.org/drawingml/2006/main" noGrp="1"/>
          </p:cNvSpPr>
          <p:nvPr/>
        </p:nvSpPr>
        <p:spPr>
          <a:xfrm xmlns:a="http://schemas.openxmlformats.org/drawingml/2006/main">
            <a:off x="609600" y="30194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C33"/>
                </a:solidFill>
                <a:latin typeface="Arial"/>
                <a:ea typeface="Arial"/>
                <a:cs typeface="Arial"/>
              </a:defRPr>
            </a:defPPr>
          </a:lstStyle>
          <a:p xmlns:a="http://schemas.openxmlformats.org/drawingml/2006/main">
            <a:pPr>
              <a:defRPr sz="2100" b="1">
                <a:solidFill>
                  <a:srgbClr val="183C33"/>
                </a:solidFill>
                <a:latin typeface="Arial"/>
                <a:ea typeface="Arial"/>
                <a:cs typeface="Arial"/>
              </a:defRPr>
            </a:pPr>
            <a:r>
              <a:rPr sz="2100" b="1">
                <a:solidFill>
                  <a:srgbClr val="183C33"/>
                </a:solidFill>
                <a:latin typeface="Arial"/>
                <a:ea typeface="Arial"/>
                <a:cs typeface="Arial"/>
              </a:rPr>
              <a:t>03  Index</a:t>
            </a:r>
          </a:p>
        </p:txBody>
      </p:sp>
      <p:sp>
        <p:nvSpPr>
          <p:cNvPr id="8" name="">
            <a:extLst xmlns:a="http://schemas.openxmlformats.org/drawingml/2006/main">
              <a:ext uri="{FF2B5EF4-FFF2-40B4-BE49-F238E27FC236}">
                <a16:creationId xmlns:a16="http://schemas.microsoft.com/office/drawing/2014/main" id="{A523D018-5E23-49D6-8D0B-E4BA8211BC8E}"/>
              </a:ext>
            </a:extLst>
          </p:cNvPr>
          <p:cNvSpPr>
            <a:spLocks xmlns:a="http://schemas.openxmlformats.org/drawingml/2006/main" noGrp="1"/>
          </p:cNvSpPr>
          <p:nvPr/>
        </p:nvSpPr>
        <p:spPr>
          <a:xfrm xmlns:a="http://schemas.openxmlformats.org/drawingml/2006/main">
            <a:off x="3286125" y="30194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Encode text with MiniLM and write to Chroma</a:t>
            </a:r>
          </a:p>
        </p:txBody>
      </p:sp>
      <p:sp>
        <p:nvSpPr>
          <p:cNvPr id="9" name="">
            <a:extLst xmlns:a="http://schemas.openxmlformats.org/drawingml/2006/main">
              <a:ext uri="{FF2B5EF4-FFF2-40B4-BE49-F238E27FC236}">
                <a16:creationId xmlns:a16="http://schemas.microsoft.com/office/drawing/2014/main" id="{287F7845-A1D1-45DE-92E0-47ACE4A7B555}"/>
              </a:ext>
            </a:extLst>
          </p:cNvPr>
          <p:cNvSpPr>
            <a:spLocks xmlns:a="http://schemas.openxmlformats.org/drawingml/2006/main" noGrp="1"/>
          </p:cNvSpPr>
          <p:nvPr/>
        </p:nvSpPr>
        <p:spPr>
          <a:xfrm xmlns:a="http://schemas.openxmlformats.org/drawingml/2006/main">
            <a:off x="609600" y="37433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C33"/>
                </a:solidFill>
                <a:latin typeface="Arial"/>
                <a:ea typeface="Arial"/>
                <a:cs typeface="Arial"/>
              </a:defRPr>
            </a:defPPr>
          </a:lstStyle>
          <a:p xmlns:a="http://schemas.openxmlformats.org/drawingml/2006/main">
            <a:pPr>
              <a:defRPr sz="2100" b="1">
                <a:solidFill>
                  <a:srgbClr val="183C33"/>
                </a:solidFill>
                <a:latin typeface="Arial"/>
                <a:ea typeface="Arial"/>
                <a:cs typeface="Arial"/>
              </a:defRPr>
            </a:pPr>
            <a:r>
              <a:rPr sz="2100" b="1">
                <a:solidFill>
                  <a:srgbClr val="183C33"/>
                </a:solidFill>
                <a:latin typeface="Arial"/>
                <a:ea typeface="Arial"/>
                <a:cs typeface="Arial"/>
              </a:rPr>
              <a:t>04  Serve</a:t>
            </a:r>
          </a:p>
        </p:txBody>
      </p:sp>
      <p:sp>
        <p:nvSpPr>
          <p:cNvPr id="10" name="">
            <a:extLst xmlns:a="http://schemas.openxmlformats.org/drawingml/2006/main">
              <a:ext uri="{FF2B5EF4-FFF2-40B4-BE49-F238E27FC236}">
                <a16:creationId xmlns:a16="http://schemas.microsoft.com/office/drawing/2014/main" id="{A13612D5-FF6D-4271-BBD4-71E3012A58CE}"/>
              </a:ext>
            </a:extLst>
          </p:cNvPr>
          <p:cNvSpPr>
            <a:spLocks xmlns:a="http://schemas.openxmlformats.org/drawingml/2006/main" noGrp="1"/>
          </p:cNvSpPr>
          <p:nvPr/>
        </p:nvSpPr>
        <p:spPr>
          <a:xfrm xmlns:a="http://schemas.openxmlformats.org/drawingml/2006/main">
            <a:off x="3286125" y="37433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FastAPI returns places, citations and context</a:t>
            </a:r>
          </a:p>
        </p:txBody>
      </p:sp>
      <p:sp>
        <p:nvSpPr>
          <p:cNvPr id="11" name="">
            <a:extLst xmlns:a="http://schemas.openxmlformats.org/drawingml/2006/main">
              <a:ext uri="{FF2B5EF4-FFF2-40B4-BE49-F238E27FC236}">
                <a16:creationId xmlns:a16="http://schemas.microsoft.com/office/drawing/2014/main" id="{A04B9EAC-30A2-4A2F-8D00-CFF5ADC1AC39}"/>
              </a:ext>
            </a:extLst>
          </p:cNvPr>
          <p:cNvSpPr>
            <a:spLocks xmlns:a="http://schemas.openxmlformats.org/drawingml/2006/main" noGrp="1"/>
          </p:cNvSpPr>
          <p:nvPr/>
        </p:nvSpPr>
        <p:spPr>
          <a:xfrm xmlns:a="http://schemas.openxmlformats.org/drawingml/2006/main">
            <a:off x="609600" y="44672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C33"/>
                </a:solidFill>
                <a:latin typeface="Arial"/>
                <a:ea typeface="Arial"/>
                <a:cs typeface="Arial"/>
              </a:defRPr>
            </a:defPPr>
          </a:lstStyle>
          <a:p xmlns:a="http://schemas.openxmlformats.org/drawingml/2006/main">
            <a:pPr>
              <a:defRPr sz="2100" b="1">
                <a:solidFill>
                  <a:srgbClr val="183C33"/>
                </a:solidFill>
                <a:latin typeface="Arial"/>
                <a:ea typeface="Arial"/>
                <a:cs typeface="Arial"/>
              </a:defRPr>
            </a:pPr>
            <a:r>
              <a:rPr sz="2100" b="1">
                <a:solidFill>
                  <a:srgbClr val="183C33"/>
                </a:solidFill>
                <a:latin typeface="Arial"/>
                <a:ea typeface="Arial"/>
                <a:cs typeface="Arial"/>
              </a:rPr>
              <a:t>05  Evaluate</a:t>
            </a:r>
          </a:p>
        </p:txBody>
      </p:sp>
      <p:sp>
        <p:nvSpPr>
          <p:cNvPr id="12" name="">
            <a:extLst xmlns:a="http://schemas.openxmlformats.org/drawingml/2006/main">
              <a:ext uri="{FF2B5EF4-FFF2-40B4-BE49-F238E27FC236}">
                <a16:creationId xmlns:a16="http://schemas.microsoft.com/office/drawing/2014/main" id="{0C67137E-9AA1-4EAC-BADB-74BBA361A995}"/>
              </a:ext>
            </a:extLst>
          </p:cNvPr>
          <p:cNvSpPr>
            <a:spLocks xmlns:a="http://schemas.openxmlformats.org/drawingml/2006/main" noGrp="1"/>
          </p:cNvSpPr>
          <p:nvPr/>
        </p:nvSpPr>
        <p:spPr>
          <a:xfrm xmlns:a="http://schemas.openxmlformats.org/drawingml/2006/main">
            <a:off x="3286125" y="44672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Run the fixed baseline/semantic comparison</a:t>
            </a:r>
          </a:p>
        </p:txBody>
      </p:sp>
      <p:sp>
        <p:nvSpPr>
          <p:cNvPr id="13" name="">
            <a:extLst xmlns:a="http://schemas.openxmlformats.org/drawingml/2006/main">
              <a:ext uri="{FF2B5EF4-FFF2-40B4-BE49-F238E27FC236}">
                <a16:creationId xmlns:a16="http://schemas.microsoft.com/office/drawing/2014/main" id="{942C5E13-77EC-4830-95EA-2543B9DB47F9}"/>
              </a:ext>
            </a:extLst>
          </p:cNvPr>
          <p:cNvSpPr>
            <a:spLocks xmlns:a="http://schemas.openxmlformats.org/drawingml/2006/main" noGrp="1"/>
          </p:cNvSpPr>
          <p:nvPr/>
        </p:nvSpPr>
        <p:spPr>
          <a:xfrm xmlns:a="http://schemas.openxmlformats.org/drawingml/2006/main">
            <a:off x="609600" y="55245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a:solidFill>
                  <a:srgbClr val="B14F35"/>
                </a:solidFill>
                <a:latin typeface="Consolas"/>
                <a:ea typeface="Consolas"/>
                <a:cs typeface="Consolas"/>
              </a:defRPr>
            </a:defPPr>
          </a:lstStyle>
          <a:p xmlns:a="http://schemas.openxmlformats.org/drawingml/2006/main">
            <a:pPr>
              <a:defRPr sz="2400">
                <a:solidFill>
                  <a:srgbClr val="B14F35"/>
                </a:solidFill>
                <a:latin typeface="Consolas"/>
                <a:ea typeface="Consolas"/>
                <a:cs typeface="Consolas"/>
              </a:defRPr>
            </a:pPr>
            <a:r>
              <a:rPr sz="2400">
                <a:solidFill>
                  <a:srgbClr val="B14F35"/>
                </a:solidFill>
                <a:latin typeface="Consolas"/>
                <a:ea typeface="Consolas"/>
                <a:cs typeface="Consolas"/>
              </a:rPr>
              <a:t>docker compose up --build</a:t>
            </a:r>
          </a:p>
        </p:txBody>
      </p:sp>
    </p:spTree>
    <p:extLst>
      <p:ext uri="{BB962C8B-B14F-4D97-AF65-F5344CB8AC3E}">
        <p14:creationId xmlns:p14="http://schemas.microsoft.com/office/powerpoint/2010/main" val="988890442"/>
      </p:ext>
    </p:extLst>
  </p:cSld>
</p:sld>
</file>

<file path=ppt/slides/slide5.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13ED9E-8228-43BB-A0D4-5086B9CAE40C}"/>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Reproducible by construction</a:t>
            </a:r>
          </a:p>
        </p:txBody>
      </p:sp>
      <p:sp>
        <p:nvSpPr>
          <p:cNvPr id="2" name="">
            <a:extLst xmlns:a="http://schemas.openxmlformats.org/drawingml/2006/main">
              <a:ext uri="{FF2B5EF4-FFF2-40B4-BE49-F238E27FC236}">
                <a16:creationId xmlns:a16="http://schemas.microsoft.com/office/drawing/2014/main" id="{A6C9BBEE-7AED-4B20-B1B6-52B56B7FB64F}"/>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05  /  RoamWise · AC215 MS2</a:t>
            </a:r>
          </a:p>
        </p:txBody>
      </p:sp>
      <p:sp>
        <p:nvSpPr>
          <p:cNvPr id="3" name="">
            <a:extLst xmlns:a="http://schemas.openxmlformats.org/drawingml/2006/main">
              <a:ext uri="{FF2B5EF4-FFF2-40B4-BE49-F238E27FC236}">
                <a16:creationId xmlns:a16="http://schemas.microsoft.com/office/drawing/2014/main" id="{1A40C277-6AA1-4564-A5F2-9930932D7AB6}"/>
              </a:ext>
            </a:extLst>
          </p:cNvPr>
          <p:cNvSpPr>
            <a:spLocks xmlns:a="http://schemas.openxmlformats.org/drawingml/2006/main" noGrp="1"/>
          </p:cNvSpPr>
          <p:nvPr/>
        </p:nvSpPr>
        <p:spPr>
          <a:xfrm xmlns:a="http://schemas.openxmlformats.org/drawingml/2006/main">
            <a:off x="609600" y="15240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C33"/>
                </a:solidFill>
                <a:latin typeface="Arial"/>
                <a:ea typeface="Arial"/>
                <a:cs typeface="Arial"/>
              </a:defRPr>
            </a:defPPr>
          </a:lstStyle>
          <a:p xmlns:a="http://schemas.openxmlformats.org/drawingml/2006/main">
            <a:pPr>
              <a:defRPr sz="2250" b="1">
                <a:solidFill>
                  <a:srgbClr val="183C33"/>
                </a:solidFill>
                <a:latin typeface="Arial"/>
                <a:ea typeface="Arial"/>
                <a:cs typeface="Arial"/>
              </a:defRPr>
            </a:pPr>
            <a:r>
              <a:rPr sz="2250" b="1">
                <a:solidFill>
                  <a:srgbClr val="183C33"/>
                </a:solidFill>
                <a:latin typeface="Arial"/>
                <a:ea typeface="Arial"/>
                <a:cs typeface="Arial"/>
              </a:rPr>
              <a:t>Python container</a:t>
            </a:r>
          </a:p>
        </p:txBody>
      </p:sp>
      <p:sp>
        <p:nvSpPr>
          <p:cNvPr id="4" name="">
            <a:extLst xmlns:a="http://schemas.openxmlformats.org/drawingml/2006/main">
              <a:ext uri="{FF2B5EF4-FFF2-40B4-BE49-F238E27FC236}">
                <a16:creationId xmlns:a16="http://schemas.microsoft.com/office/drawing/2014/main" id="{0EF8F2D4-10CB-459C-8B02-B2EDE6D33864}"/>
              </a:ext>
            </a:extLst>
          </p:cNvPr>
          <p:cNvSpPr>
            <a:spLocks xmlns:a="http://schemas.openxmlformats.org/drawingml/2006/main" noGrp="1"/>
          </p:cNvSpPr>
          <p:nvPr/>
        </p:nvSpPr>
        <p:spPr>
          <a:xfrm xmlns:a="http://schemas.openxmlformats.org/drawingml/2006/main">
            <a:off x="609600" y="2171700"/>
            <a:ext cx="6286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a:solidFill>
                  <a:srgbClr val="183C33"/>
                </a:solidFill>
                <a:latin typeface="Consolas"/>
                <a:ea typeface="Consolas"/>
                <a:cs typeface="Consolas"/>
              </a:defRPr>
            </a:defPPr>
          </a:lstStyle>
          <a:p xmlns:a="http://schemas.openxmlformats.org/drawingml/2006/main">
            <a:pPr>
              <a:defRPr sz="1875">
                <a:solidFill>
                  <a:srgbClr val="183C33"/>
                </a:solidFill>
                <a:latin typeface="Consolas"/>
                <a:ea typeface="Consolas"/>
                <a:cs typeface="Consolas"/>
              </a:defRPr>
            </a:pPr>
            <a:r>
              <a:rPr sz="1875">
                <a:solidFill>
                  <a:srgbClr val="183C33"/>
                </a:solidFill>
                <a:latin typeface="Consolas"/>
                <a:ea typeface="Consolas"/>
                <a:cs typeface="Consolas"/>
              </a:rPr>
              <a:t>FROM &lt;pinned uv/Python image&gt;</a:t>
            </a:r>
          </a:p>
          <a:p xmlns:a="http://schemas.openxmlformats.org/drawingml/2006/main">
            <a:pPr>
              <a:defRPr sz="1875">
                <a:solidFill>
                  <a:srgbClr val="183C33"/>
                </a:solidFill>
                <a:latin typeface="Consolas"/>
                <a:ea typeface="Consolas"/>
                <a:cs typeface="Consolas"/>
              </a:defRPr>
            </a:pPr>
            <a:r>
              <a:rPr sz="1875">
                <a:solidFill>
                  <a:srgbClr val="183C33"/>
                </a:solidFill>
                <a:latin typeface="Consolas"/>
                <a:ea typeface="Consolas"/>
                <a:cs typeface="Consolas"/>
              </a:rPr>
              <a:t>WORKDIR /app</a:t>
            </a:r>
          </a:p>
          <a:p xmlns:a="http://schemas.openxmlformats.org/drawingml/2006/main">
            <a:pPr>
              <a:defRPr sz="1875">
                <a:solidFill>
                  <a:srgbClr val="183C33"/>
                </a:solidFill>
                <a:latin typeface="Consolas"/>
                <a:ea typeface="Consolas"/>
                <a:cs typeface="Consolas"/>
              </a:defRPr>
            </a:pPr>
            <a:r>
              <a:rPr sz="1875">
                <a:solidFill>
                  <a:srgbClr val="183C33"/>
                </a:solidFill>
                <a:latin typeface="Consolas"/>
                <a:ea typeface="Consolas"/>
                <a:cs typeface="Consolas"/>
              </a:rPr>
              <a:t>COPY pyproject.toml uv.lock ./</a:t>
            </a:r>
          </a:p>
          <a:p xmlns:a="http://schemas.openxmlformats.org/drawingml/2006/main">
            <a:pPr>
              <a:defRPr sz="1875">
                <a:solidFill>
                  <a:srgbClr val="183C33"/>
                </a:solidFill>
                <a:latin typeface="Consolas"/>
                <a:ea typeface="Consolas"/>
                <a:cs typeface="Consolas"/>
              </a:defRPr>
            </a:pPr>
            <a:r>
              <a:rPr sz="1875">
                <a:solidFill>
                  <a:srgbClr val="183C33"/>
                </a:solidFill>
                <a:latin typeface="Consolas"/>
                <a:ea typeface="Consolas"/>
                <a:cs typeface="Consolas"/>
              </a:rPr>
              <a:t>RUN uv sync --frozen --no-dev</a:t>
            </a:r>
          </a:p>
          <a:p xmlns:a="http://schemas.openxmlformats.org/drawingml/2006/main">
            <a:pPr>
              <a:defRPr sz="1875">
                <a:solidFill>
                  <a:srgbClr val="183C33"/>
                </a:solidFill>
                <a:latin typeface="Consolas"/>
                <a:ea typeface="Consolas"/>
                <a:cs typeface="Consolas"/>
              </a:defRPr>
            </a:pPr>
            <a:r>
              <a:rPr sz="1875">
                <a:solidFill>
                  <a:srgbClr val="183C33"/>
                </a:solidFill>
                <a:latin typeface="Consolas"/>
                <a:ea typeface="Consolas"/>
                <a:cs typeface="Consolas"/>
              </a:rPr>
              <a:t>COPY roamwise ./roamwise</a:t>
            </a:r>
          </a:p>
          <a:p xmlns:a="http://schemas.openxmlformats.org/drawingml/2006/main">
            <a:pPr>
              <a:defRPr sz="1875">
                <a:solidFill>
                  <a:srgbClr val="183C33"/>
                </a:solidFill>
                <a:latin typeface="Consolas"/>
                <a:ea typeface="Consolas"/>
                <a:cs typeface="Consolas"/>
              </a:defRPr>
            </a:pPr>
            <a:r>
              <a:rPr sz="1875">
                <a:solidFill>
                  <a:srgbClr val="183C33"/>
                </a:solidFill>
                <a:latin typeface="Consolas"/>
                <a:ea typeface="Consolas"/>
                <a:cs typeface="Consolas"/>
              </a:rPr>
              <a:t>CMD ["uv", "run", ...]</a:t>
            </a:r>
          </a:p>
        </p:txBody>
      </p:sp>
      <p:sp>
        <p:nvSpPr>
          <p:cNvPr id="5" name="">
            <a:extLst xmlns:a="http://schemas.openxmlformats.org/drawingml/2006/main">
              <a:ext uri="{FF2B5EF4-FFF2-40B4-BE49-F238E27FC236}">
                <a16:creationId xmlns:a16="http://schemas.microsoft.com/office/drawing/2014/main" id="{3E6E5662-9A44-48E4-A4D3-CD8ABAF790B0}"/>
              </a:ext>
            </a:extLst>
          </p:cNvPr>
          <p:cNvSpPr>
            <a:spLocks xmlns:a="http://schemas.openxmlformats.org/drawingml/2006/main" noGrp="1"/>
          </p:cNvSpPr>
          <p:nvPr/>
        </p:nvSpPr>
        <p:spPr>
          <a:xfrm xmlns:a="http://schemas.openxmlformats.org/drawingml/2006/main">
            <a:off x="7524750" y="15240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C33"/>
                </a:solidFill>
                <a:latin typeface="Arial"/>
                <a:ea typeface="Arial"/>
                <a:cs typeface="Arial"/>
              </a:defRPr>
            </a:defPPr>
          </a:lstStyle>
          <a:p xmlns:a="http://schemas.openxmlformats.org/drawingml/2006/main">
            <a:pPr>
              <a:defRPr sz="2250" b="1">
                <a:solidFill>
                  <a:srgbClr val="183C33"/>
                </a:solidFill>
                <a:latin typeface="Arial"/>
                <a:ea typeface="Arial"/>
                <a:cs typeface="Arial"/>
              </a:defRPr>
            </a:pPr>
            <a:r>
              <a:rPr sz="2250" b="1">
                <a:solidFill>
                  <a:srgbClr val="183C33"/>
                </a:solidFill>
                <a:latin typeface="Arial"/>
                <a:ea typeface="Arial"/>
                <a:cs typeface="Arial"/>
              </a:rPr>
              <a:t>Versioned inputs</a:t>
            </a:r>
          </a:p>
        </p:txBody>
      </p:sp>
      <p:sp>
        <p:nvSpPr>
          <p:cNvPr id="6" name="">
            <a:extLst xmlns:a="http://schemas.openxmlformats.org/drawingml/2006/main">
              <a:ext uri="{FF2B5EF4-FFF2-40B4-BE49-F238E27FC236}">
                <a16:creationId xmlns:a16="http://schemas.microsoft.com/office/drawing/2014/main" id="{CC3E101D-9C78-4826-9702-BAE46B5EDB2F}"/>
              </a:ext>
            </a:extLst>
          </p:cNvPr>
          <p:cNvSpPr>
            <a:spLocks xmlns:a="http://schemas.openxmlformats.org/drawingml/2006/main" noGrp="1"/>
          </p:cNvSpPr>
          <p:nvPr/>
        </p:nvSpPr>
        <p:spPr>
          <a:xfrm xmlns:a="http://schemas.openxmlformats.org/drawingml/2006/main">
            <a:off x="7524750" y="2190750"/>
            <a:ext cx="4000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Source file checksums</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Selection and chunk settings</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Model archive checksum</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Dependency lockfiles</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Dataset and index IDs</a:t>
            </a:r>
          </a:p>
        </p:txBody>
      </p:sp>
      <p:sp>
        <p:nvSpPr>
          <p:cNvPr id="7" name="">
            <a:extLst xmlns:a="http://schemas.openxmlformats.org/drawingml/2006/main">
              <a:ext uri="{FF2B5EF4-FFF2-40B4-BE49-F238E27FC236}">
                <a16:creationId xmlns:a16="http://schemas.microsoft.com/office/drawing/2014/main" id="{830D38B8-526E-4F9D-9469-50019EBD46B2}"/>
              </a:ext>
            </a:extLst>
          </p:cNvPr>
          <p:cNvSpPr>
            <a:spLocks xmlns:a="http://schemas.openxmlformats.org/drawingml/2006/main" noGrp="1"/>
          </p:cNvSpPr>
          <p:nvPr/>
        </p:nvSpPr>
        <p:spPr>
          <a:xfrm xmlns:a="http://schemas.openxmlformats.org/drawingml/2006/main">
            <a:off x="609600" y="56197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B14F35"/>
                </a:solidFill>
                <a:latin typeface="Arial"/>
                <a:ea typeface="Arial"/>
                <a:cs typeface="Arial"/>
              </a:defRPr>
            </a:defPPr>
          </a:lstStyle>
          <a:p xmlns:a="http://schemas.openxmlformats.org/drawingml/2006/main">
            <a:pPr>
              <a:defRPr sz="2025">
                <a:solidFill>
                  <a:srgbClr val="B14F35"/>
                </a:solidFill>
                <a:latin typeface="Arial"/>
                <a:ea typeface="Arial"/>
                <a:cs typeface="Arial"/>
              </a:defRPr>
            </a:pPr>
            <a:r>
              <a:rPr sz="2025">
                <a:solidFill>
                  <a:srgbClr val="B14F35"/>
                </a:solidFill>
                <a:latin typeface="Arial"/>
                <a:ea typeface="Arial"/>
                <a:cs typeface="Arial"/>
              </a:rPr>
              <a:t>No host Python, GPU, cloud account or API key required.</a:t>
            </a:r>
          </a:p>
        </p:txBody>
      </p:sp>
    </p:spTree>
    <p:extLst>
      <p:ext uri="{BB962C8B-B14F-4D97-AF65-F5344CB8AC3E}">
        <p14:creationId xmlns:p14="http://schemas.microsoft.com/office/powerpoint/2010/main" val="2027636430"/>
      </p:ext>
    </p:extLst>
  </p:cSld>
</p:sld>
</file>

<file path=ppt/slides/slide6.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F2EC69-94D8-4F2F-90FC-DB06EF48B59D}"/>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A complete query → context example</a:t>
            </a:r>
          </a:p>
        </p:txBody>
      </p:sp>
      <p:sp>
        <p:nvSpPr>
          <p:cNvPr id="2" name="">
            <a:extLst xmlns:a="http://schemas.openxmlformats.org/drawingml/2006/main">
              <a:ext uri="{FF2B5EF4-FFF2-40B4-BE49-F238E27FC236}">
                <a16:creationId xmlns:a16="http://schemas.microsoft.com/office/drawing/2014/main" id="{D2CD3E47-B25A-44A7-9AD1-CF6AEA07096B}"/>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06  /  RoamWise · AC215 MS2</a:t>
            </a:r>
          </a:p>
        </p:txBody>
      </p:sp>
      <p:sp>
        <p:nvSpPr>
          <p:cNvPr id="3" name="">
            <a:extLst xmlns:a="http://schemas.openxmlformats.org/drawingml/2006/main">
              <a:ext uri="{FF2B5EF4-FFF2-40B4-BE49-F238E27FC236}">
                <a16:creationId xmlns:a16="http://schemas.microsoft.com/office/drawing/2014/main" id="{E392670F-7A45-483D-BC85-E5A78CAE2096}"/>
              </a:ext>
            </a:extLst>
          </p:cNvPr>
          <p:cNvSpPr>
            <a:spLocks xmlns:a="http://schemas.openxmlformats.org/drawingml/2006/main" noGrp="1"/>
          </p:cNvSpPr>
          <p:nvPr/>
        </p:nvSpPr>
        <p:spPr>
          <a:xfrm xmlns:a="http://schemas.openxmlformats.org/drawingml/2006/main">
            <a:off x="609600" y="1524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14F35"/>
                </a:solidFill>
                <a:latin typeface="Arial"/>
                <a:ea typeface="Arial"/>
                <a:cs typeface="Arial"/>
              </a:defRPr>
            </a:defPPr>
          </a:lstStyle>
          <a:p xmlns:a="http://schemas.openxmlformats.org/drawingml/2006/main">
            <a:pPr>
              <a:defRPr sz="1950" b="1">
                <a:solidFill>
                  <a:srgbClr val="B14F35"/>
                </a:solidFill>
                <a:latin typeface="Arial"/>
                <a:ea typeface="Arial"/>
                <a:cs typeface="Arial"/>
              </a:defRPr>
            </a:pPr>
            <a:r>
              <a:rPr sz="1950" b="1">
                <a:solidFill>
                  <a:srgbClr val="B14F35"/>
                </a:solidFill>
                <a:latin typeface="Arial"/>
                <a:ea typeface="Arial"/>
                <a:cs typeface="Arial"/>
              </a:rPr>
              <a:t>Query</a:t>
            </a:r>
          </a:p>
        </p:txBody>
      </p:sp>
      <p:sp>
        <p:nvSpPr>
          <p:cNvPr id="4" name="">
            <a:extLst xmlns:a="http://schemas.openxmlformats.org/drawingml/2006/main">
              <a:ext uri="{FF2B5EF4-FFF2-40B4-BE49-F238E27FC236}">
                <a16:creationId xmlns:a16="http://schemas.microsoft.com/office/drawing/2014/main" id="{0A8E4334-7929-47F0-A1E3-2D494899AF97}"/>
              </a:ext>
            </a:extLst>
          </p:cNvPr>
          <p:cNvSpPr>
            <a:spLocks xmlns:a="http://schemas.openxmlformats.org/drawingml/2006/main" noGrp="1"/>
          </p:cNvSpPr>
          <p:nvPr/>
        </p:nvSpPr>
        <p:spPr>
          <a:xfrm xmlns:a="http://schemas.openxmlformats.org/drawingml/2006/main">
            <a:off x="609600" y="2047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83C33"/>
                </a:solidFill>
                <a:latin typeface="Arial"/>
                <a:ea typeface="Arial"/>
                <a:cs typeface="Arial"/>
              </a:defRPr>
            </a:defPPr>
          </a:lstStyle>
          <a:p xmlns:a="http://schemas.openxmlformats.org/drawingml/2006/main">
            <a:pPr>
              <a:defRPr sz="2850">
                <a:solidFill>
                  <a:srgbClr val="183C33"/>
                </a:solidFill>
                <a:latin typeface="Arial"/>
                <a:ea typeface="Arial"/>
                <a:cs typeface="Arial"/>
              </a:defRPr>
            </a:pPr>
            <a:r>
              <a:rPr sz="2850">
                <a:solidFill>
                  <a:srgbClr val="183C33"/>
                </a:solidFill>
                <a:latin typeface="Arial"/>
                <a:ea typeface="Arial"/>
                <a:cs typeface="Arial"/>
              </a:rPr>
              <a:t>“art museum with paintings near Harvard”</a:t>
            </a:r>
          </a:p>
        </p:txBody>
      </p:sp>
      <p:sp>
        <p:nvSpPr>
          <p:cNvPr id="5" name="">
            <a:extLst xmlns:a="http://schemas.openxmlformats.org/drawingml/2006/main">
              <a:ext uri="{FF2B5EF4-FFF2-40B4-BE49-F238E27FC236}">
                <a16:creationId xmlns:a16="http://schemas.microsoft.com/office/drawing/2014/main" id="{D43F8651-07EF-4AB2-91AF-D66B41EB340A}"/>
              </a:ext>
            </a:extLst>
          </p:cNvPr>
          <p:cNvSpPr>
            <a:spLocks xmlns:a="http://schemas.openxmlformats.org/drawingml/2006/main" noGrp="1"/>
          </p:cNvSpPr>
          <p:nvPr/>
        </p:nvSpPr>
        <p:spPr>
          <a:xfrm xmlns:a="http://schemas.openxmlformats.org/drawingml/2006/main">
            <a:off x="609600" y="3048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83C33"/>
                </a:solidFill>
                <a:latin typeface="Arial"/>
                <a:ea typeface="Arial"/>
                <a:cs typeface="Arial"/>
              </a:defRPr>
            </a:defPPr>
          </a:lstStyle>
          <a:p xmlns:a="http://schemas.openxmlformats.org/drawingml/2006/main">
            <a:pPr>
              <a:defRPr sz="2700" b="1">
                <a:solidFill>
                  <a:srgbClr val="183C33"/>
                </a:solidFill>
                <a:latin typeface="Arial"/>
                <a:ea typeface="Arial"/>
                <a:cs typeface="Arial"/>
              </a:defRPr>
            </a:pPr>
            <a:r>
              <a:rPr sz="2700" b="1">
                <a:solidFill>
                  <a:srgbClr val="183C33"/>
                </a:solidFill>
                <a:latin typeface="Arial"/>
                <a:ea typeface="Arial"/>
                <a:cs typeface="Arial"/>
              </a:rPr>
              <a:t>1  Harvard Art Museums</a:t>
            </a:r>
          </a:p>
        </p:txBody>
      </p:sp>
      <p:sp>
        <p:nvSpPr>
          <p:cNvPr id="6" name="">
            <a:extLst xmlns:a="http://schemas.openxmlformats.org/drawingml/2006/main">
              <a:ext uri="{FF2B5EF4-FFF2-40B4-BE49-F238E27FC236}">
                <a16:creationId xmlns:a16="http://schemas.microsoft.com/office/drawing/2014/main" id="{147574AD-5642-4315-8C49-298059A87F68}"/>
              </a:ext>
            </a:extLst>
          </p:cNvPr>
          <p:cNvSpPr>
            <a:spLocks xmlns:a="http://schemas.openxmlformats.org/drawingml/2006/main" noGrp="1"/>
          </p:cNvSpPr>
          <p:nvPr/>
        </p:nvSpPr>
        <p:spPr>
          <a:xfrm xmlns:a="http://schemas.openxmlformats.org/drawingml/2006/main">
            <a:off x="609600" y="37623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657367"/>
                </a:solidFill>
                <a:latin typeface="Arial"/>
                <a:ea typeface="Arial"/>
                <a:cs typeface="Arial"/>
              </a:defRPr>
            </a:defPPr>
          </a:lstStyle>
          <a:p xmlns:a="http://schemas.openxmlformats.org/drawingml/2006/main">
            <a:pPr>
              <a:defRPr sz="2100">
                <a:solidFill>
                  <a:srgbClr val="657367"/>
                </a:solidFill>
                <a:latin typeface="Arial"/>
                <a:ea typeface="Arial"/>
                <a:cs typeface="Arial"/>
              </a:defRPr>
            </a:pPr>
            <a:r>
              <a:rPr sz="2100">
                <a:solidFill>
                  <a:srgbClr val="657367"/>
                </a:solidFill>
                <a:latin typeface="Arial"/>
                <a:ea typeface="Arial"/>
                <a:cs typeface="Arial"/>
              </a:rPr>
              <a:t>Cambridge · cosine similarity 0.815</a:t>
            </a:r>
          </a:p>
        </p:txBody>
      </p:sp>
      <p:sp>
        <p:nvSpPr>
          <p:cNvPr id="7" name="">
            <a:extLst xmlns:a="http://schemas.openxmlformats.org/drawingml/2006/main">
              <a:ext uri="{FF2B5EF4-FFF2-40B4-BE49-F238E27FC236}">
                <a16:creationId xmlns:a16="http://schemas.microsoft.com/office/drawing/2014/main" id="{0584D8D7-88E4-4913-915A-BFCDA03E8A3B}"/>
              </a:ext>
            </a:extLst>
          </p:cNvPr>
          <p:cNvSpPr>
            <a:spLocks xmlns:a="http://schemas.openxmlformats.org/drawingml/2006/main" noGrp="1"/>
          </p:cNvSpPr>
          <p:nvPr/>
        </p:nvSpPr>
        <p:spPr>
          <a:xfrm xmlns:a="http://schemas.openxmlformats.org/drawingml/2006/main">
            <a:off x="609600" y="45243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Source: review-Massachusetts.json.gz</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Each passage includes a source line, chunk ID and citation.</a:t>
            </a:r>
          </a:p>
        </p:txBody>
      </p:sp>
      <p:sp>
        <p:nvSpPr>
          <p:cNvPr id="8" name="">
            <a:extLst xmlns:a="http://schemas.openxmlformats.org/drawingml/2006/main">
              <a:ext uri="{FF2B5EF4-FFF2-40B4-BE49-F238E27FC236}">
                <a16:creationId xmlns:a16="http://schemas.microsoft.com/office/drawing/2014/main" id="{E0208B24-AE02-428F-830E-699A1BD04EA6}"/>
              </a:ext>
            </a:extLst>
          </p:cNvPr>
          <p:cNvSpPr>
            <a:spLocks xmlns:a="http://schemas.openxmlformats.org/drawingml/2006/main" noGrp="1"/>
          </p:cNvSpPr>
          <p:nvPr/>
        </p:nvSpPr>
        <p:spPr>
          <a:xfrm xmlns:a="http://schemas.openxmlformats.org/drawingml/2006/main">
            <a:off x="609600" y="57340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B14F35"/>
                </a:solidFill>
                <a:latin typeface="Arial"/>
                <a:ea typeface="Arial"/>
                <a:cs typeface="Arial"/>
              </a:defRPr>
            </a:defPPr>
          </a:lstStyle>
          <a:p xmlns:a="http://schemas.openxmlformats.org/drawingml/2006/main">
            <a:pPr>
              <a:defRPr sz="1800">
                <a:solidFill>
                  <a:srgbClr val="B14F35"/>
                </a:solidFill>
                <a:latin typeface="Arial"/>
                <a:ea typeface="Arial"/>
                <a:cs typeface="Arial"/>
              </a:defRPr>
            </a:pPr>
            <a:r>
              <a:rPr sz="1800">
                <a:solidFill>
                  <a:srgbClr val="B14F35"/>
                </a:solidFill>
                <a:latin typeface="Arial"/>
                <a:ea typeface="Arial"/>
                <a:cs typeface="Arial"/>
              </a:rPr>
              <a:t>384-dimensional MiniLM vectors · Chroma cosine search · place deduplication</a:t>
            </a:r>
          </a:p>
        </p:txBody>
      </p:sp>
    </p:spTree>
    <p:extLst>
      <p:ext uri="{BB962C8B-B14F-4D97-AF65-F5344CB8AC3E}">
        <p14:creationId xmlns:p14="http://schemas.microsoft.com/office/powerpoint/2010/main" val="410387124"/>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6A665E-E68B-4B00-8B71-7E6D05663500}"/>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Working web app</a:t>
            </a:r>
          </a:p>
        </p:txBody>
      </p:sp>
      <p:sp>
        <p:nvSpPr>
          <p:cNvPr id="2" name="">
            <a:extLst xmlns:a="http://schemas.openxmlformats.org/drawingml/2006/main">
              <a:ext uri="{FF2B5EF4-FFF2-40B4-BE49-F238E27FC236}">
                <a16:creationId xmlns:a16="http://schemas.microsoft.com/office/drawing/2014/main" id="{63EBAC33-A4E4-47BB-9331-5A858B4AF482}"/>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07  /  RoamWise · AC215 MS2</a:t>
            </a:r>
          </a:p>
        </p:txBody>
      </p:sp>
      <p:pic>
        <p:nvPicPr>
          <p:cNvPr id="3" name="">
            <a:extLst xmlns:a="http://schemas.openxmlformats.org/drawingml/2006/main">
              <a:ext uri="{FF2B5EF4-FFF2-40B4-BE49-F238E27FC236}">
                <a16:creationId xmlns:a16="http://schemas.microsoft.com/office/drawing/2014/main" id="{0E794DAC-FDB2-446B-854B-D0C61344F6DD}"/>
              </a:ext>
            </a:extLst>
          </p:cNvPr>
          <p:cNvPicPr>
            <a:picLocks xmlns:a="http://schemas.openxmlformats.org/drawingml/2006/main" noChangeAspect="1"/>
          </p:cNvPicPr>
          <p:nvPr/>
        </p:nvPicPr>
        <p:blipFill>
          <a:blip xmlns:r="http://schemas.openxmlformats.org/officeDocument/2006/relationships" xmlns:a="http://schemas.openxmlformats.org/drawingml/2006/main" r:embed="Rc6a817330c6b4c71"/>
          <a:stretch xmlns:a="http://schemas.openxmlformats.org/drawingml/2006/main"/>
        </p:blipFill>
        <p:spPr>
          <a:xfrm xmlns:a="http://schemas.openxmlformats.org/drawingml/2006/main">
            <a:off x="780435" y="1362075"/>
            <a:ext cx="8326081"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6E470F-82F5-41FE-BACE-706456FA67CF}"/>
              </a:ext>
            </a:extLst>
          </p:cNvPr>
          <p:cNvSpPr>
            <a:spLocks xmlns:a="http://schemas.openxmlformats.org/drawingml/2006/main" noGrp="1"/>
          </p:cNvSpPr>
          <p:nvPr/>
        </p:nvSpPr>
        <p:spPr>
          <a:xfrm xmlns:a="http://schemas.openxmlformats.org/drawingml/2006/main">
            <a:off x="9620250" y="1905000"/>
            <a:ext cx="204787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183C33"/>
                </a:solidFill>
                <a:latin typeface="Arial"/>
                <a:ea typeface="Arial"/>
                <a:cs typeface="Arial"/>
              </a:defRPr>
            </a:defPPr>
          </a:lstStyle>
          <a:p xmlns:a="http://schemas.openxmlformats.org/drawingml/2006/main">
            <a:pPr>
              <a:defRPr sz="2025">
                <a:solidFill>
                  <a:srgbClr val="183C33"/>
                </a:solidFill>
                <a:latin typeface="Arial"/>
                <a:ea typeface="Arial"/>
                <a:cs typeface="Arial"/>
              </a:defRPr>
            </a:pPr>
            <a:r>
              <a:rPr sz="2025">
                <a:solidFill>
                  <a:srgbClr val="183C33"/>
                </a:solidFill>
                <a:latin typeface="Arial"/>
                <a:ea typeface="Arial"/>
                <a:cs typeface="Arial"/>
              </a:rPr>
              <a:t>Search</a:t>
            </a:r>
          </a:p>
          <a:p xmlns:a="http://schemas.openxmlformats.org/drawingml/2006/main">
            <a:r>
              <a:t/>
            </a:r>
          </a:p>
          <a:p xmlns:a="http://schemas.openxmlformats.org/drawingml/2006/main">
            <a:pPr>
              <a:defRPr sz="2025">
                <a:solidFill>
                  <a:srgbClr val="183C33"/>
                </a:solidFill>
                <a:latin typeface="Arial"/>
                <a:ea typeface="Arial"/>
                <a:cs typeface="Arial"/>
              </a:defRPr>
            </a:pPr>
            <a:r>
              <a:rPr sz="2025">
                <a:solidFill>
                  <a:srgbClr val="183C33"/>
                </a:solidFill>
                <a:latin typeface="Arial"/>
                <a:ea typeface="Arial"/>
                <a:cs typeface="Arial"/>
              </a:rPr>
              <a:t>Compare</a:t>
            </a:r>
          </a:p>
          <a:p xmlns:a="http://schemas.openxmlformats.org/drawingml/2006/main">
            <a:r>
              <a:t/>
            </a:r>
          </a:p>
          <a:p xmlns:a="http://schemas.openxmlformats.org/drawingml/2006/main">
            <a:pPr>
              <a:defRPr sz="2025">
                <a:solidFill>
                  <a:srgbClr val="183C33"/>
                </a:solidFill>
                <a:latin typeface="Arial"/>
                <a:ea typeface="Arial"/>
                <a:cs typeface="Arial"/>
              </a:defRPr>
            </a:pPr>
            <a:r>
              <a:rPr sz="2025">
                <a:solidFill>
                  <a:srgbClr val="183C33"/>
                </a:solidFill>
                <a:latin typeface="Arial"/>
                <a:ea typeface="Arial"/>
                <a:cs typeface="Arial"/>
              </a:rPr>
              <a:t>Inspect sources</a:t>
            </a:r>
          </a:p>
          <a:p xmlns:a="http://schemas.openxmlformats.org/drawingml/2006/main">
            <a:r>
              <a:t/>
            </a:r>
          </a:p>
          <a:p xmlns:a="http://schemas.openxmlformats.org/drawingml/2006/main">
            <a:pPr>
              <a:defRPr sz="2025">
                <a:solidFill>
                  <a:srgbClr val="183C33"/>
                </a:solidFill>
                <a:latin typeface="Arial"/>
                <a:ea typeface="Arial"/>
                <a:cs typeface="Arial"/>
              </a:defRPr>
            </a:pPr>
            <a:r>
              <a:rPr sz="2025">
                <a:solidFill>
                  <a:srgbClr val="183C33"/>
                </a:solidFill>
                <a:latin typeface="Arial"/>
                <a:ea typeface="Arial"/>
                <a:cs typeface="Arial"/>
              </a:rPr>
              <a:t>Save places</a:t>
            </a:r>
          </a:p>
        </p:txBody>
      </p:sp>
    </p:spTree>
    <p:extLst>
      <p:ext uri="{BB962C8B-B14F-4D97-AF65-F5344CB8AC3E}">
        <p14:creationId xmlns:p14="http://schemas.microsoft.com/office/powerpoint/2010/main" val="1383774565"/>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8A2509-6E58-4A30-A882-A2B74CC3586E}"/>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Initial benchmark</a:t>
            </a:r>
          </a:p>
        </p:txBody>
      </p:sp>
      <p:sp>
        <p:nvSpPr>
          <p:cNvPr id="2" name="">
            <a:extLst xmlns:a="http://schemas.openxmlformats.org/drawingml/2006/main">
              <a:ext uri="{FF2B5EF4-FFF2-40B4-BE49-F238E27FC236}">
                <a16:creationId xmlns:a16="http://schemas.microsoft.com/office/drawing/2014/main" id="{517C8901-9D51-4A99-81E5-F95EE3904D91}"/>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08  /  RoamWise · AC215 MS2</a:t>
            </a:r>
          </a:p>
        </p:txBody>
      </p:sp>
      <p:graphicFrame>
        <p:nvGraphicFramePr>
          <p:cNvPr id="3" name="">
            <a:extLst xmlns:a="http://schemas.openxmlformats.org/drawingml/2006/main">
              <a:ext uri="{FF2B5EF4-FFF2-40B4-BE49-F238E27FC236}">
                <a16:creationId xmlns:a16="http://schemas.microsoft.com/office/drawing/2014/main" id="{6827EE09-7914-412D-9CEE-01209A0BCAA1}"/>
              </a:ext>
            </a:extLst>
          </p:cNvPr>
          <p:cNvGraphicFramePr/>
          <p:nvPr/>
        </p:nvGraphicFramePr>
        <p:xfrm>
          <a:off xmlns:a="http://schemas.openxmlformats.org/drawingml/2006/main" x="609600" y="1666875"/>
          <a:ext xmlns:a="http://schemas.openxmlformats.org/drawingml/2006/main" cx="10972800" cy="2286000"/>
        </p:xfrm>
        <a:graphic xmlns:a="http://schemas.openxmlformats.org/drawingml/2006/main">
          <a:graphicData uri="http://schemas.openxmlformats.org/drawingml/2006/table">
            <a:tbl>
              <a:tblPr/>
              <a:tblGrid>
                <a:gridCol w="3905250"/>
                <a:gridCol w="3238500"/>
                <a:gridCol w="3829050"/>
              </a:tblGrid>
              <a:tr h="762000">
                <a:tc>
                  <a:txBody>
                    <a:bodyPr/>
                    <a:lstStyle/>
                    <a:p>
                      <a:r>
                        <a:rPr sz="1875" b="1">
                          <a:solidFill>
                            <a:srgbClr val="FFFFFF"/>
                          </a:solidFill>
                          <a:latin typeface="Arial"/>
                          <a:ea typeface="Arial"/>
                          <a:cs typeface="Arial"/>
                        </a:rPr>
                        <a:t>Method</a:t>
                      </a:r>
                    </a:p>
                  </a:txBody>
                  <a:tcPr marL="91440" marR="91440" marT="45720" marB="45720">
                    <a:lnL w="9525">
                      <a:solidFill>
                        <a:srgbClr val="D7DCCD"/>
                      </a:solidFill>
                    </a:lnL>
                    <a:lnR w="9525">
                      <a:solidFill>
                        <a:srgbClr val="D7DCCD"/>
                      </a:solidFill>
                    </a:lnR>
                    <a:lnT w="9525">
                      <a:solidFill>
                        <a:srgbClr val="D7DCCD"/>
                      </a:solidFill>
                    </a:lnT>
                    <a:lnB w="9525">
                      <a:solidFill>
                        <a:srgbClr val="D7DCCD"/>
                      </a:solidFill>
                    </a:lnB>
                    <a:solidFill>
                      <a:srgbClr val="183C33"/>
                    </a:solidFill>
                  </a:tcPr>
                </a:tc>
                <a:tc>
                  <a:txBody>
                    <a:bodyPr/>
                    <a:lstStyle/>
                    <a:p>
                      <a:r>
                        <a:rPr sz="1875" b="1">
                          <a:solidFill>
                            <a:srgbClr val="FFFFFF"/>
                          </a:solidFill>
                          <a:latin typeface="Arial"/>
                          <a:ea typeface="Arial"/>
                          <a:cs typeface="Arial"/>
                        </a:rPr>
                        <a:t>Category hits @5</a:t>
                      </a:r>
                    </a:p>
                  </a:txBody>
                  <a:tcPr marL="91440" marR="91440" marT="45720" marB="45720">
                    <a:lnR w="9525">
                      <a:solidFill>
                        <a:srgbClr val="D7DCCD"/>
                      </a:solidFill>
                    </a:lnR>
                    <a:lnT w="9525">
                      <a:solidFill>
                        <a:srgbClr val="D7DCCD"/>
                      </a:solidFill>
                    </a:lnT>
                    <a:lnB w="9525">
                      <a:solidFill>
                        <a:srgbClr val="D7DCCD"/>
                      </a:solidFill>
                    </a:lnB>
                    <a:solidFill>
                      <a:srgbClr val="183C33"/>
                    </a:solidFill>
                  </a:tcPr>
                </a:tc>
                <a:tc>
                  <a:txBody>
                    <a:bodyPr/>
                    <a:lstStyle/>
                    <a:p>
                      <a:r>
                        <a:rPr sz="1875" b="1">
                          <a:solidFill>
                            <a:srgbClr val="FFFFFF"/>
                          </a:solidFill>
                          <a:latin typeface="Arial"/>
                          <a:ea typeface="Arial"/>
                          <a:cs typeface="Arial"/>
                        </a:rPr>
                        <a:t>Median HTTP latency</a:t>
                      </a:r>
                    </a:p>
                  </a:txBody>
                  <a:tcPr marL="91440" marR="91440" marT="45720" marB="45720">
                    <a:lnR w="9525">
                      <a:solidFill>
                        <a:srgbClr val="D7DCCD"/>
                      </a:solidFill>
                    </a:lnR>
                    <a:lnT w="9525">
                      <a:solidFill>
                        <a:srgbClr val="D7DCCD"/>
                      </a:solidFill>
                    </a:lnT>
                    <a:lnB w="9525">
                      <a:solidFill>
                        <a:srgbClr val="D7DCCD"/>
                      </a:solidFill>
                    </a:lnB>
                    <a:solidFill>
                      <a:srgbClr val="183C33"/>
                    </a:solidFill>
                  </a:tcPr>
                </a:tc>
              </a:tr>
              <a:tr h="762000">
                <a:tc>
                  <a:txBody>
                    <a:bodyPr/>
                    <a:lstStyle/>
                    <a:p>
                      <a:r>
                        <a:rPr sz="1875" b="0">
                          <a:solidFill>
                            <a:srgbClr val="183C33"/>
                          </a:solidFill>
                          <a:latin typeface="Arial"/>
                          <a:ea typeface="Arial"/>
                          <a:cs typeface="Arial"/>
                        </a:rPr>
                        <a:t>Category + rating</a:t>
                      </a:r>
                    </a:p>
                  </a:txBody>
                  <a:tcPr marL="91440" marR="91440" marT="45720" marB="45720">
                    <a:lnL w="9525">
                      <a:solidFill>
                        <a:srgbClr val="D7DCCD"/>
                      </a:solidFill>
                    </a:lnL>
                    <a:lnR w="9525">
                      <a:solidFill>
                        <a:srgbClr val="D7DCCD"/>
                      </a:solidFill>
                    </a:lnR>
                    <a:lnB w="9525">
                      <a:solidFill>
                        <a:srgbClr val="D7DCCD"/>
                      </a:solidFill>
                    </a:lnB>
                    <a:solidFill>
                      <a:srgbClr val="FFFEF9"/>
                    </a:solidFill>
                  </a:tcPr>
                </a:tc>
                <a:tc>
                  <a:txBody>
                    <a:bodyPr/>
                    <a:lstStyle/>
                    <a:p>
                      <a:r>
                        <a:rPr sz="1875" b="0">
                          <a:solidFill>
                            <a:srgbClr val="183C33"/>
                          </a:solidFill>
                          <a:latin typeface="Arial"/>
                          <a:ea typeface="Arial"/>
                          <a:cs typeface="Arial"/>
                        </a:rPr>
                        <a:t>0.95</a:t>
                      </a:r>
                    </a:p>
                  </a:txBody>
                  <a:tcPr marL="91440" marR="91440" marT="45720" marB="45720">
                    <a:lnR w="9525">
                      <a:solidFill>
                        <a:srgbClr val="D7DCCD"/>
                      </a:solidFill>
                    </a:lnR>
                    <a:lnB w="9525">
                      <a:solidFill>
                        <a:srgbClr val="D7DCCD"/>
                      </a:solidFill>
                    </a:lnB>
                    <a:solidFill>
                      <a:srgbClr val="FFFEF9"/>
                    </a:solidFill>
                  </a:tcPr>
                </a:tc>
                <a:tc>
                  <a:txBody>
                    <a:bodyPr/>
                    <a:lstStyle/>
                    <a:p>
                      <a:r>
                        <a:rPr sz="1875" b="0">
                          <a:solidFill>
                            <a:srgbClr val="183C33"/>
                          </a:solidFill>
                          <a:latin typeface="Arial"/>
                          <a:ea typeface="Arial"/>
                          <a:cs typeface="Arial"/>
                        </a:rPr>
                        <a:t>3.54 ms</a:t>
                      </a:r>
                    </a:p>
                  </a:txBody>
                  <a:tcPr marL="91440" marR="91440" marT="45720" marB="45720">
                    <a:lnR w="9525">
                      <a:solidFill>
                        <a:srgbClr val="D7DCCD"/>
                      </a:solidFill>
                    </a:lnR>
                    <a:lnB w="9525">
                      <a:solidFill>
                        <a:srgbClr val="D7DCCD"/>
                      </a:solidFill>
                    </a:lnB>
                    <a:solidFill>
                      <a:srgbClr val="FFFEF9"/>
                    </a:solidFill>
                  </a:tcPr>
                </a:tc>
              </a:tr>
              <a:tr h="762000">
                <a:tc>
                  <a:txBody>
                    <a:bodyPr/>
                    <a:lstStyle/>
                    <a:p>
                      <a:r>
                        <a:rPr sz="1875" b="0">
                          <a:solidFill>
                            <a:srgbClr val="183C33"/>
                          </a:solidFill>
                          <a:latin typeface="Arial"/>
                          <a:ea typeface="Arial"/>
                          <a:cs typeface="Arial"/>
                        </a:rPr>
                        <a:t>MiniLM retrieval</a:t>
                      </a:r>
                    </a:p>
                  </a:txBody>
                  <a:tcPr marL="91440" marR="91440" marT="45720" marB="45720">
                    <a:lnL w="9525">
                      <a:solidFill>
                        <a:srgbClr val="D7DCCD"/>
                      </a:solidFill>
                    </a:lnL>
                    <a:lnR w="9525">
                      <a:solidFill>
                        <a:srgbClr val="D7DCCD"/>
                      </a:solidFill>
                    </a:lnR>
                    <a:lnB w="9525">
                      <a:solidFill>
                        <a:srgbClr val="D7DCCD"/>
                      </a:solidFill>
                    </a:lnB>
                    <a:solidFill>
                      <a:srgbClr val="FFFEF9"/>
                    </a:solidFill>
                  </a:tcPr>
                </a:tc>
                <a:tc>
                  <a:txBody>
                    <a:bodyPr/>
                    <a:lstStyle/>
                    <a:p>
                      <a:r>
                        <a:rPr sz="1875" b="0">
                          <a:solidFill>
                            <a:srgbClr val="183C33"/>
                          </a:solidFill>
                          <a:latin typeface="Arial"/>
                          <a:ea typeface="Arial"/>
                          <a:cs typeface="Arial"/>
                        </a:rPr>
                        <a:t>0.92</a:t>
                      </a:r>
                    </a:p>
                  </a:txBody>
                  <a:tcPr marL="91440" marR="91440" marT="45720" marB="45720">
                    <a:lnR w="9525">
                      <a:solidFill>
                        <a:srgbClr val="D7DCCD"/>
                      </a:solidFill>
                    </a:lnR>
                    <a:lnB w="9525">
                      <a:solidFill>
                        <a:srgbClr val="D7DCCD"/>
                      </a:solidFill>
                    </a:lnB>
                    <a:solidFill>
                      <a:srgbClr val="FFFEF9"/>
                    </a:solidFill>
                  </a:tcPr>
                </a:tc>
                <a:tc>
                  <a:txBody>
                    <a:bodyPr/>
                    <a:lstStyle/>
                    <a:p>
                      <a:r>
                        <a:rPr sz="1875" b="0">
                          <a:solidFill>
                            <a:srgbClr val="183C33"/>
                          </a:solidFill>
                          <a:latin typeface="Arial"/>
                          <a:ea typeface="Arial"/>
                          <a:cs typeface="Arial"/>
                        </a:rPr>
                        <a:t>95.98 ms</a:t>
                      </a:r>
                    </a:p>
                  </a:txBody>
                  <a:tcPr marL="91440" marR="91440" marT="45720" marB="45720">
                    <a:lnR w="9525">
                      <a:solidFill>
                        <a:srgbClr val="D7DCCD"/>
                      </a:solidFill>
                    </a:lnR>
                    <a:lnB w="9525">
                      <a:solidFill>
                        <a:srgbClr val="D7DCCD"/>
                      </a:solidFill>
                    </a:lnB>
                    <a:solidFill>
                      <a:srgbClr val="FFFEF9"/>
                    </a:solidFill>
                  </a:tcPr>
                </a:tc>
              </a:tr>
            </a:tbl>
          </a:graphicData>
        </a:graphic>
      </p:graphicFrame>
      <p:sp>
        <p:nvSpPr>
          <p:cNvPr id="4" name="">
            <a:extLst xmlns:a="http://schemas.openxmlformats.org/drawingml/2006/main">
              <a:ext uri="{FF2B5EF4-FFF2-40B4-BE49-F238E27FC236}">
                <a16:creationId xmlns:a16="http://schemas.microsoft.com/office/drawing/2014/main" id="{5CC04DAD-B566-4421-A3C8-B84584AD3E57}"/>
              </a:ext>
            </a:extLst>
          </p:cNvPr>
          <p:cNvSpPr>
            <a:spLocks xmlns:a="http://schemas.openxmlformats.org/drawingml/2006/main" noGrp="1"/>
          </p:cNvSpPr>
          <p:nvPr/>
        </p:nvSpPr>
        <p:spPr>
          <a:xfrm xmlns:a="http://schemas.openxmlformats.org/drawingml/2006/main">
            <a:off x="609600" y="42862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20 fixed queries per method · zero duplicate places returned</a:t>
            </a:r>
          </a:p>
        </p:txBody>
      </p:sp>
      <p:sp>
        <p:nvSpPr>
          <p:cNvPr id="5" name="">
            <a:extLst xmlns:a="http://schemas.openxmlformats.org/drawingml/2006/main">
              <a:ext uri="{FF2B5EF4-FFF2-40B4-BE49-F238E27FC236}">
                <a16:creationId xmlns:a16="http://schemas.microsoft.com/office/drawing/2014/main" id="{8C2C4AFD-B05A-40EB-B9CD-48D0B6BE2AE1}"/>
              </a:ext>
            </a:extLst>
          </p:cNvPr>
          <p:cNvSpPr>
            <a:spLocks xmlns:a="http://schemas.openxmlformats.org/drawingml/2006/main" noGrp="1"/>
          </p:cNvSpPr>
          <p:nvPr/>
        </p:nvSpPr>
        <p:spPr>
          <a:xfrm xmlns:a="http://schemas.openxmlformats.org/drawingml/2006/main">
            <a:off x="609600" y="5000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B14F35"/>
                </a:solidFill>
                <a:latin typeface="Arial"/>
                <a:ea typeface="Arial"/>
                <a:cs typeface="Arial"/>
              </a:defRPr>
            </a:defPPr>
          </a:lstStyle>
          <a:p xmlns:a="http://schemas.openxmlformats.org/drawingml/2006/main">
            <a:pPr>
              <a:defRPr sz="2100">
                <a:solidFill>
                  <a:srgbClr val="B14F35"/>
                </a:solidFill>
                <a:latin typeface="Arial"/>
                <a:ea typeface="Arial"/>
                <a:cs typeface="Arial"/>
              </a:defRPr>
            </a:pPr>
            <a:r>
              <a:rPr sz="2100">
                <a:solidFill>
                  <a:srgbClr val="B14F35"/>
                </a:solidFill>
                <a:latin typeface="Arial"/>
                <a:ea typeface="Arial"/>
                <a:cs typeface="Arial"/>
              </a:rPr>
              <a:t>This is a category proxy, not human Precision@5.</a:t>
            </a:r>
          </a:p>
          <a:p xmlns:a="http://schemas.openxmlformats.org/drawingml/2006/main">
            <a:pPr>
              <a:defRPr sz="2100">
                <a:solidFill>
                  <a:srgbClr val="B14F35"/>
                </a:solidFill>
                <a:latin typeface="Arial"/>
                <a:ea typeface="Arial"/>
                <a:cs typeface="Arial"/>
              </a:defRPr>
            </a:pPr>
            <a:r>
              <a:rPr sz="2100">
                <a:solidFill>
                  <a:srgbClr val="B14F35"/>
                </a:solidFill>
                <a:latin typeface="Arial"/>
                <a:ea typeface="Arial"/>
                <a:cs typeface="Arial"/>
              </a:rPr>
              <a:t>The query wording favors the keyword baseline.</a:t>
            </a:r>
          </a:p>
        </p:txBody>
      </p:sp>
    </p:spTree>
    <p:extLst>
      <p:ext uri="{BB962C8B-B14F-4D97-AF65-F5344CB8AC3E}">
        <p14:creationId xmlns:p14="http://schemas.microsoft.com/office/powerpoint/2010/main" val="2146104426"/>
      </p:ext>
    </p:extLst>
  </p:cSld>
</p:sld>
</file>

<file path=ppt/slides/slide9.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75098B-E217-4A66-91E7-6E43872E6CFD}"/>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Verification and evidence</a:t>
            </a:r>
          </a:p>
        </p:txBody>
      </p:sp>
      <p:sp>
        <p:nvSpPr>
          <p:cNvPr id="2" name="">
            <a:extLst xmlns:a="http://schemas.openxmlformats.org/drawingml/2006/main">
              <a:ext uri="{FF2B5EF4-FFF2-40B4-BE49-F238E27FC236}">
                <a16:creationId xmlns:a16="http://schemas.microsoft.com/office/drawing/2014/main" id="{74A8E663-59C2-4B64-B3AA-11611555304B}"/>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09  /  RoamWise · AC215 MS2</a:t>
            </a:r>
          </a:p>
        </p:txBody>
      </p:sp>
      <p:sp>
        <p:nvSpPr>
          <p:cNvPr id="3" name="">
            <a:extLst xmlns:a="http://schemas.openxmlformats.org/drawingml/2006/main">
              <a:ext uri="{FF2B5EF4-FFF2-40B4-BE49-F238E27FC236}">
                <a16:creationId xmlns:a16="http://schemas.microsoft.com/office/drawing/2014/main" id="{23A84FFA-D98B-4124-9315-D4EC41AF0131}"/>
              </a:ext>
            </a:extLst>
          </p:cNvPr>
          <p:cNvSpPr>
            <a:spLocks xmlns:a="http://schemas.openxmlformats.org/drawingml/2006/main" noGrp="1"/>
          </p:cNvSpPr>
          <p:nvPr/>
        </p:nvSpPr>
        <p:spPr>
          <a:xfrm xmlns:a="http://schemas.openxmlformats.org/drawingml/2006/main">
            <a:off x="609600" y="166687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C33"/>
                </a:solidFill>
                <a:latin typeface="Arial"/>
                <a:ea typeface="Arial"/>
                <a:cs typeface="Arial"/>
              </a:defRPr>
            </a:defPPr>
          </a:lstStyle>
          <a:p xmlns:a="http://schemas.openxmlformats.org/drawingml/2006/main">
            <a:pPr>
              <a:defRPr sz="3150" b="1">
                <a:solidFill>
                  <a:srgbClr val="183C33"/>
                </a:solidFill>
                <a:latin typeface="Arial"/>
                <a:ea typeface="Arial"/>
                <a:cs typeface="Arial"/>
              </a:defRPr>
            </a:pPr>
            <a:r>
              <a:rPr sz="3150" b="1">
                <a:solidFill>
                  <a:srgbClr val="183C33"/>
                </a:solidFill>
                <a:latin typeface="Arial"/>
                <a:ea typeface="Arial"/>
                <a:cs typeface="Arial"/>
              </a:rPr>
              <a:t>18 tests passed</a:t>
            </a:r>
          </a:p>
        </p:txBody>
      </p:sp>
      <p:sp>
        <p:nvSpPr>
          <p:cNvPr id="4" name="">
            <a:extLst xmlns:a="http://schemas.openxmlformats.org/drawingml/2006/main">
              <a:ext uri="{FF2B5EF4-FFF2-40B4-BE49-F238E27FC236}">
                <a16:creationId xmlns:a16="http://schemas.microsoft.com/office/drawing/2014/main" id="{4D8D9F3E-AF73-4073-94EA-D415813DE22D}"/>
              </a:ext>
            </a:extLst>
          </p:cNvPr>
          <p:cNvSpPr>
            <a:spLocks xmlns:a="http://schemas.openxmlformats.org/drawingml/2006/main" noGrp="1"/>
          </p:cNvSpPr>
          <p:nvPr/>
        </p:nvSpPr>
        <p:spPr>
          <a:xfrm xmlns:a="http://schemas.openxmlformats.org/drawingml/2006/main">
            <a:off x="609600" y="2571750"/>
            <a:ext cx="5619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183C33"/>
                </a:solidFill>
                <a:latin typeface="Arial"/>
                <a:ea typeface="Arial"/>
                <a:cs typeface="Arial"/>
              </a:defRPr>
            </a:defPPr>
          </a:lstStyle>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Data rules and chunk boundaries</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Source checksum failures</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API validation and place lookup</a:t>
            </a:r>
          </a:p>
          <a:p xmlns:a="http://schemas.openxmlformats.org/drawingml/2006/main">
            <a:pPr>
              <a:defRPr sz="2100">
                <a:solidFill>
                  <a:srgbClr val="183C33"/>
                </a:solidFill>
                <a:latin typeface="Arial"/>
                <a:ea typeface="Arial"/>
                <a:cs typeface="Arial"/>
              </a:defRPr>
            </a:pPr>
            <a:r>
              <a:rPr sz="2100">
                <a:solidFill>
                  <a:srgbClr val="183C33"/>
                </a:solidFill>
                <a:latin typeface="Arial"/>
                <a:ea typeface="Arial"/>
                <a:cs typeface="Arial"/>
              </a:rPr>
              <a:t>Deduplication and source citations</a:t>
            </a:r>
          </a:p>
        </p:txBody>
      </p:sp>
      <p:pic>
        <p:nvPicPr>
          <p:cNvPr id="5" name="">
            <a:extLst xmlns:a="http://schemas.openxmlformats.org/drawingml/2006/main">
              <a:ext uri="{FF2B5EF4-FFF2-40B4-BE49-F238E27FC236}">
                <a16:creationId xmlns:a16="http://schemas.microsoft.com/office/drawing/2014/main" id="{14F1012F-D093-4B88-B230-0FFDC274C03A}"/>
              </a:ext>
            </a:extLst>
          </p:cNvPr>
          <p:cNvPicPr>
            <a:picLocks xmlns:a="http://schemas.openxmlformats.org/drawingml/2006/main" noChangeAspect="1"/>
          </p:cNvPicPr>
          <p:nvPr/>
        </p:nvPicPr>
        <p:blipFill>
          <a:blip xmlns:r="http://schemas.openxmlformats.org/officeDocument/2006/relationships" xmlns:a="http://schemas.openxmlformats.org/drawingml/2006/main" r:embed="Rccc4f28c45f641eb"/>
          <a:stretch xmlns:a="http://schemas.openxmlformats.org/drawingml/2006/main"/>
        </p:blipFill>
        <p:spPr>
          <a:xfrm xmlns:a="http://schemas.openxmlformats.org/drawingml/2006/main">
            <a:off x="6619875" y="1892237"/>
            <a:ext cx="4953000" cy="27877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621E56E-56A3-4840-AF20-E25281D5646D}"/>
              </a:ext>
            </a:extLst>
          </p:cNvPr>
          <p:cNvSpPr>
            <a:spLocks xmlns:a="http://schemas.openxmlformats.org/drawingml/2006/main" noGrp="1"/>
          </p:cNvSpPr>
          <p:nvPr/>
        </p:nvSpPr>
        <p:spPr>
          <a:xfrm xmlns:a="http://schemas.openxmlformats.org/drawingml/2006/main">
            <a:off x="609600" y="55245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B14F35"/>
                </a:solidFill>
                <a:latin typeface="Arial"/>
                <a:ea typeface="Arial"/>
                <a:cs typeface="Arial"/>
              </a:defRPr>
            </a:defPPr>
          </a:lstStyle>
          <a:p xmlns:a="http://schemas.openxmlformats.org/drawingml/2006/main">
            <a:pPr>
              <a:defRPr sz="2025">
                <a:solidFill>
                  <a:srgbClr val="B14F35"/>
                </a:solidFill>
                <a:latin typeface="Arial"/>
                <a:ea typeface="Arial"/>
                <a:cs typeface="Arial"/>
              </a:defRPr>
            </a:pPr>
            <a:r>
              <a:rPr sz="2025">
                <a:solidFill>
                  <a:srgbClr val="B14F35"/>
                </a:solidFill>
                <a:latin typeface="Arial"/>
                <a:ea typeface="Arial"/>
                <a:cs typeface="Arial"/>
              </a:rPr>
              <a:t>Saved input/output JSON, manifests, logs and browser screenshots</a:t>
            </a:r>
          </a:p>
        </p:txBody>
      </p:sp>
    </p:spTree>
    <p:extLst>
      <p:ext uri="{BB962C8B-B14F-4D97-AF65-F5344CB8AC3E}">
        <p14:creationId xmlns:p14="http://schemas.microsoft.com/office/powerpoint/2010/main" val="1109628126"/>
      </p:ext>
    </p:extLst>
  </p:cSld>
</p:sld>
</file>

<file path=ppt/slides/slide10.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E18BFA-A12F-4B98-BABD-39901E88052F}"/>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C33"/>
                </a:solidFill>
                <a:latin typeface="Arial"/>
                <a:ea typeface="Arial"/>
                <a:cs typeface="Arial"/>
              </a:defRPr>
            </a:defPPr>
          </a:lstStyle>
          <a:p xmlns:a="http://schemas.openxmlformats.org/drawingml/2006/main">
            <a:pPr>
              <a:defRPr sz="3450" b="1">
                <a:solidFill>
                  <a:srgbClr val="183C33"/>
                </a:solidFill>
                <a:latin typeface="Arial"/>
                <a:ea typeface="Arial"/>
                <a:cs typeface="Arial"/>
              </a:defRPr>
            </a:pPr>
            <a:r>
              <a:rPr sz="3450" b="1">
                <a:solidFill>
                  <a:srgbClr val="183C33"/>
                </a:solidFill>
                <a:latin typeface="Arial"/>
                <a:ea typeface="Arial"/>
                <a:cs typeface="Arial"/>
              </a:rPr>
              <a:t>Limits and next experiment</a:t>
            </a:r>
          </a:p>
        </p:txBody>
      </p:sp>
      <p:sp>
        <p:nvSpPr>
          <p:cNvPr id="2" name="">
            <a:extLst xmlns:a="http://schemas.openxmlformats.org/drawingml/2006/main">
              <a:ext uri="{FF2B5EF4-FFF2-40B4-BE49-F238E27FC236}">
                <a16:creationId xmlns:a16="http://schemas.microsoft.com/office/drawing/2014/main" id="{7553C13D-28D3-4094-A4A9-3452ED224684}"/>
              </a:ext>
            </a:extLst>
          </p:cNvPr>
          <p:cNvSpPr>
            <a:spLocks xmlns:a="http://schemas.openxmlformats.org/drawingml/2006/main" noGrp="1"/>
          </p:cNvSpPr>
          <p:nvPr/>
        </p:nvSpPr>
        <p:spPr>
          <a:xfrm xmlns:a="http://schemas.openxmlformats.org/drawingml/2006/main">
            <a:off x="609600" y="63436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57367"/>
                </a:solidFill>
                <a:latin typeface="Arial"/>
                <a:ea typeface="Arial"/>
                <a:cs typeface="Arial"/>
              </a:defRPr>
            </a:defPPr>
          </a:lstStyle>
          <a:p xmlns:a="http://schemas.openxmlformats.org/drawingml/2006/main">
            <a:pPr>
              <a:defRPr sz="1200">
                <a:solidFill>
                  <a:srgbClr val="657367"/>
                </a:solidFill>
                <a:latin typeface="Arial"/>
                <a:ea typeface="Arial"/>
                <a:cs typeface="Arial"/>
              </a:defRPr>
            </a:pPr>
            <a:r>
              <a:rPr sz="1200">
                <a:solidFill>
                  <a:srgbClr val="657367"/>
                </a:solidFill>
                <a:latin typeface="Arial"/>
                <a:ea typeface="Arial"/>
                <a:cs typeface="Arial"/>
              </a:rPr>
              <a:t>10  /  RoamWise · AC215 MS2</a:t>
            </a:r>
          </a:p>
        </p:txBody>
      </p:sp>
      <p:sp>
        <p:nvSpPr>
          <p:cNvPr id="3" name="">
            <a:extLst xmlns:a="http://schemas.openxmlformats.org/drawingml/2006/main">
              <a:ext uri="{FF2B5EF4-FFF2-40B4-BE49-F238E27FC236}">
                <a16:creationId xmlns:a16="http://schemas.microsoft.com/office/drawing/2014/main" id="{07897B6C-401F-4785-9247-D4D0D607A6D4}"/>
              </a:ext>
            </a:extLst>
          </p:cNvPr>
          <p:cNvSpPr>
            <a:spLocks xmlns:a="http://schemas.openxmlformats.org/drawingml/2006/main" noGrp="1"/>
          </p:cNvSpPr>
          <p:nvPr/>
        </p:nvSpPr>
        <p:spPr>
          <a:xfrm xmlns:a="http://schemas.openxmlformats.org/drawingml/2006/main">
            <a:off x="609600" y="16668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C33"/>
                </a:solidFill>
                <a:latin typeface="Arial"/>
                <a:ea typeface="Arial"/>
                <a:cs typeface="Arial"/>
              </a:defRPr>
            </a:defPPr>
          </a:lstStyle>
          <a:p xmlns:a="http://schemas.openxmlformats.org/drawingml/2006/main">
            <a:pPr>
              <a:defRPr sz="2400" b="1">
                <a:solidFill>
                  <a:srgbClr val="183C33"/>
                </a:solidFill>
                <a:latin typeface="Arial"/>
                <a:ea typeface="Arial"/>
                <a:cs typeface="Arial"/>
              </a:defRPr>
            </a:pPr>
            <a:r>
              <a:rPr sz="2400" b="1">
                <a:solidFill>
                  <a:srgbClr val="183C33"/>
                </a:solidFill>
                <a:latin typeface="Arial"/>
                <a:ea typeface="Arial"/>
                <a:cs typeface="Arial"/>
              </a:rPr>
              <a:t>Current limits</a:t>
            </a:r>
          </a:p>
        </p:txBody>
      </p:sp>
      <p:sp>
        <p:nvSpPr>
          <p:cNvPr id="4" name="">
            <a:extLst xmlns:a="http://schemas.openxmlformats.org/drawingml/2006/main">
              <a:ext uri="{FF2B5EF4-FFF2-40B4-BE49-F238E27FC236}">
                <a16:creationId xmlns:a16="http://schemas.microsoft.com/office/drawing/2014/main" id="{676B2B1B-3087-45A5-8383-DC759963DD51}"/>
              </a:ext>
            </a:extLst>
          </p:cNvPr>
          <p:cNvSpPr>
            <a:spLocks xmlns:a="http://schemas.openxmlformats.org/drawingml/2006/main" noGrp="1"/>
          </p:cNvSpPr>
          <p:nvPr/>
        </p:nvSpPr>
        <p:spPr>
          <a:xfrm xmlns:a="http://schemas.openxmlformats.org/drawingml/2006/main">
            <a:off x="609600" y="2428875"/>
            <a:ext cx="5143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183C33"/>
                </a:solidFill>
                <a:latin typeface="Arial"/>
                <a:ea typeface="Arial"/>
                <a:cs typeface="Arial"/>
              </a:defRPr>
            </a:defPPr>
          </a:lstStyle>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Historical source data</a:t>
            </a:r>
          </a:p>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Popularity-biased sampling</a:t>
            </a:r>
          </a:p>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English encoder and proxy labels</a:t>
            </a:r>
          </a:p>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No generated itinerary or routing</a:t>
            </a:r>
          </a:p>
        </p:txBody>
      </p:sp>
      <p:sp>
        <p:nvSpPr>
          <p:cNvPr id="5" name="">
            <a:extLst xmlns:a="http://schemas.openxmlformats.org/drawingml/2006/main">
              <a:ext uri="{FF2B5EF4-FFF2-40B4-BE49-F238E27FC236}">
                <a16:creationId xmlns:a16="http://schemas.microsoft.com/office/drawing/2014/main" id="{66DF6E99-BD55-4556-B379-572983E067C8}"/>
              </a:ext>
            </a:extLst>
          </p:cNvPr>
          <p:cNvSpPr>
            <a:spLocks xmlns:a="http://schemas.openxmlformats.org/drawingml/2006/main" noGrp="1"/>
          </p:cNvSpPr>
          <p:nvPr/>
        </p:nvSpPr>
        <p:spPr>
          <a:xfrm xmlns:a="http://schemas.openxmlformats.org/drawingml/2006/main">
            <a:off x="6667500" y="16668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C33"/>
                </a:solidFill>
                <a:latin typeface="Arial"/>
                <a:ea typeface="Arial"/>
                <a:cs typeface="Arial"/>
              </a:defRPr>
            </a:defPPr>
          </a:lstStyle>
          <a:p xmlns:a="http://schemas.openxmlformats.org/drawingml/2006/main">
            <a:pPr>
              <a:defRPr sz="2400" b="1">
                <a:solidFill>
                  <a:srgbClr val="183C33"/>
                </a:solidFill>
                <a:latin typeface="Arial"/>
                <a:ea typeface="Arial"/>
                <a:cs typeface="Arial"/>
              </a:defRPr>
            </a:pPr>
            <a:r>
              <a:rPr sz="2400" b="1">
                <a:solidFill>
                  <a:srgbClr val="183C33"/>
                </a:solidFill>
                <a:latin typeface="Arial"/>
                <a:ea typeface="Arial"/>
                <a:cs typeface="Arial"/>
              </a:rPr>
              <a:t>MS3 experiment</a:t>
            </a:r>
          </a:p>
        </p:txBody>
      </p:sp>
      <p:sp>
        <p:nvSpPr>
          <p:cNvPr id="6" name="">
            <a:extLst xmlns:a="http://schemas.openxmlformats.org/drawingml/2006/main">
              <a:ext uri="{FF2B5EF4-FFF2-40B4-BE49-F238E27FC236}">
                <a16:creationId xmlns:a16="http://schemas.microsoft.com/office/drawing/2014/main" id="{4B7FFD37-DEF1-48BC-BFA1-BBB648EA1D72}"/>
              </a:ext>
            </a:extLst>
          </p:cNvPr>
          <p:cNvSpPr>
            <a:spLocks xmlns:a="http://schemas.openxmlformats.org/drawingml/2006/main" noGrp="1"/>
          </p:cNvSpPr>
          <p:nvPr/>
        </p:nvSpPr>
        <p:spPr>
          <a:xfrm xmlns:a="http://schemas.openxmlformats.org/drawingml/2006/main">
            <a:off x="6667500" y="2428875"/>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183C33"/>
                </a:solidFill>
                <a:latin typeface="Arial"/>
                <a:ea typeface="Arial"/>
                <a:cs typeface="Arial"/>
              </a:defRPr>
            </a:defPPr>
          </a:lstStyle>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Collect independent relevance labels</a:t>
            </a:r>
          </a:p>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Train a lightweight reranker</a:t>
            </a:r>
          </a:p>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Track experiments and held-out results</a:t>
            </a:r>
          </a:p>
          <a:p xmlns:a="http://schemas.openxmlformats.org/drawingml/2006/main">
            <a:pPr>
              <a:defRPr sz="2175">
                <a:solidFill>
                  <a:srgbClr val="183C33"/>
                </a:solidFill>
                <a:latin typeface="Arial"/>
                <a:ea typeface="Arial"/>
                <a:cs typeface="Arial"/>
              </a:defRPr>
            </a:pPr>
            <a:r>
              <a:rPr sz="2175">
                <a:solidFill>
                  <a:srgbClr val="183C33"/>
                </a:solidFill>
                <a:latin typeface="Arial"/>
                <a:ea typeface="Arial"/>
                <a:cs typeface="Arial"/>
              </a:rPr>
              <a:t>Prepare monitored API deployment</a:t>
            </a:r>
          </a:p>
        </p:txBody>
      </p:sp>
      <p:sp>
        <p:nvSpPr>
          <p:cNvPr id="7" name="">
            <a:extLst xmlns:a="http://schemas.openxmlformats.org/drawingml/2006/main">
              <a:ext uri="{FF2B5EF4-FFF2-40B4-BE49-F238E27FC236}">
                <a16:creationId xmlns:a16="http://schemas.microsoft.com/office/drawing/2014/main" id="{20F82F35-9F01-449F-A893-D57B193E4A98}"/>
              </a:ext>
            </a:extLst>
          </p:cNvPr>
          <p:cNvSpPr>
            <a:spLocks xmlns:a="http://schemas.openxmlformats.org/drawingml/2006/main" noGrp="1"/>
          </p:cNvSpPr>
          <p:nvPr/>
        </p:nvSpPr>
        <p:spPr>
          <a:xfrm xmlns:a="http://schemas.openxmlformats.org/drawingml/2006/main">
            <a:off x="609600" y="57626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a:solidFill>
                  <a:srgbClr val="B14F35"/>
                </a:solidFill>
                <a:latin typeface="Arial"/>
                <a:ea typeface="Arial"/>
                <a:cs typeface="Arial"/>
              </a:defRPr>
            </a:defPPr>
          </a:lstStyle>
          <a:p xmlns:a="http://schemas.openxmlformats.org/drawingml/2006/main">
            <a:pPr>
              <a:defRPr sz="1725">
                <a:solidFill>
                  <a:srgbClr val="B14F35"/>
                </a:solidFill>
                <a:latin typeface="Arial"/>
                <a:ea typeface="Arial"/>
                <a:cs typeface="Arial"/>
              </a:defRPr>
            </a:pPr>
            <a:r>
              <a:rPr sz="1725">
                <a:solidFill>
                  <a:srgbClr val="B14F35"/>
                </a:solidFill>
                <a:latin typeface="Arial"/>
                <a:ea typeface="Arial"/>
                <a:cs typeface="Arial"/>
              </a:rPr>
              <a:t>Repository: EthanCHEN6/ac215-roamwise · submission branch: milestone2</a:t>
            </a:r>
          </a:p>
        </p:txBody>
      </p:sp>
    </p:spTree>
    <p:extLst>
      <p:ext uri="{BB962C8B-B14F-4D97-AF65-F5344CB8AC3E}">
        <p14:creationId xmlns:p14="http://schemas.microsoft.com/office/powerpoint/2010/main" val="344734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2026-10-16T04:43:40.1690000Z</dcterms:created>
  <dcterms:modified xsi:type="dcterms:W3CDTF">2026-10-16T04:43:40.1690000Z</dcterms:modified>
</coreProperties>
</file>