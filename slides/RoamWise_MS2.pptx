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58c4eee57d4162" /><Relationship Type="http://schemas.openxmlformats.org/officeDocument/2006/relationships/extended-properties" Target="/docProps/app.xml" Id="Rd444fd0b82b244c6" /><Relationship Type="http://schemas.openxmlformats.org/officeDocument/2006/relationships/officeDocument" Target="/ppt/presentation.xml" Id="R4a8977d56cdf44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eab6427fc947c8"/>
  </p:sldMasterIdLst>
  <p:notesMasterIdLst>
    <p:notesMasterId xmlns:r="http://schemas.openxmlformats.org/officeDocument/2006/relationships" r:id="R51ea50efc24247cf"/>
  </p:notesMasterIdLst>
  <p:sldIdLst>
    <p:sldId xmlns:r="http://schemas.openxmlformats.org/officeDocument/2006/relationships" id="256" r:id="R7ab7b36c7218413d"/>
    <p:sldId xmlns:r="http://schemas.openxmlformats.org/officeDocument/2006/relationships" id="257" r:id="R60727ec3bf574bf4"/>
    <p:sldId xmlns:r="http://schemas.openxmlformats.org/officeDocument/2006/relationships" id="258" r:id="R1da7a3ee83b34eca"/>
    <p:sldId xmlns:r="http://schemas.openxmlformats.org/officeDocument/2006/relationships" id="259" r:id="Ra1cac27111b04151"/>
    <p:sldId xmlns:r="http://schemas.openxmlformats.org/officeDocument/2006/relationships" id="260" r:id="R2c42a12a291d45b9"/>
    <p:sldId xmlns:r="http://schemas.openxmlformats.org/officeDocument/2006/relationships" id="261" r:id="R9291ca5d34d94fed"/>
    <p:sldId xmlns:r="http://schemas.openxmlformats.org/officeDocument/2006/relationships" id="262" r:id="R6c2be8fea5c94f63"/>
    <p:sldId xmlns:r="http://schemas.openxmlformats.org/officeDocument/2006/relationships" id="263" r:id="Rb42da1dd7f424b30"/>
    <p:sldId xmlns:r="http://schemas.openxmlformats.org/officeDocument/2006/relationships" id="264" r:id="R49fb01153f084f3a"/>
    <p:sldId xmlns:r="http://schemas.openxmlformats.org/officeDocument/2006/relationships" id="265" r:id="R9b81e9d9fdd740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d3feec8e184ec6" /><Relationship Type="http://schemas.openxmlformats.org/officeDocument/2006/relationships/slideMaster" Target="/ppt/slideMasters/slideMaster1.xml" Id="Rc6eab6427fc947c8" /><Relationship Type="http://schemas.openxmlformats.org/officeDocument/2006/relationships/notesMaster" Target="/ppt/notesMasters/notesMaster1.xml" Id="R51ea50efc24247cf" /><Relationship Type="http://schemas.openxmlformats.org/officeDocument/2006/relationships/presProps" Target="/ppt/presProps.xml" Id="Rd374fd22755f42b3" /><Relationship Type="http://schemas.openxmlformats.org/officeDocument/2006/relationships/tableStyles" Target="/ppt/tableStyles.xml" Id="R31fa3bb05925456b" /><Relationship Type="http://schemas.openxmlformats.org/officeDocument/2006/relationships/slide" Target="/ppt/slides/slide1.xml" Id="R7ab7b36c7218413d" /><Relationship Type="http://schemas.openxmlformats.org/officeDocument/2006/relationships/slide" Target="/ppt/slides/slide2.xml" Id="R60727ec3bf574bf4" /><Relationship Type="http://schemas.openxmlformats.org/officeDocument/2006/relationships/slide" Target="/ppt/slides/slide3.xml" Id="R1da7a3ee83b34eca" /><Relationship Type="http://schemas.openxmlformats.org/officeDocument/2006/relationships/slide" Target="/ppt/slides/slide4.xml" Id="Ra1cac27111b04151" /><Relationship Type="http://schemas.openxmlformats.org/officeDocument/2006/relationships/slide" Target="/ppt/slides/slide5.xml" Id="R2c42a12a291d45b9" /><Relationship Type="http://schemas.openxmlformats.org/officeDocument/2006/relationships/slide" Target="/ppt/slides/slide6.xml" Id="R9291ca5d34d94fed" /><Relationship Type="http://schemas.openxmlformats.org/officeDocument/2006/relationships/slide" Target="/ppt/slides/slide7.xml" Id="R6c2be8fea5c94f63" /><Relationship Type="http://schemas.openxmlformats.org/officeDocument/2006/relationships/slide" Target="/ppt/slides/slide8.xml" Id="Rb42da1dd7f424b30" /><Relationship Type="http://schemas.openxmlformats.org/officeDocument/2006/relationships/slide" Target="/ppt/slides/slide9.xml" Id="R49fb01153f084f3a" /><Relationship Type="http://schemas.openxmlformats.org/officeDocument/2006/relationships/slide" Target="/ppt/slides/slide10.xml" Id="R9b81e9d9fdd740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dddc83615249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ef2a17755d4724" /><Relationship Type="http://schemas.openxmlformats.org/officeDocument/2006/relationships/notesMaster" Target="/ppt/notesMasters/notesMaster1.xml" Id="Rb0cd5c2093ff4a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ff3981ca5444e" /><Relationship Type="http://schemas.openxmlformats.org/officeDocument/2006/relationships/notesMaster" Target="/ppt/notesMasters/notesMaster1.xml" Id="R06dcbe46312a40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dadd348f474553" /><Relationship Type="http://schemas.openxmlformats.org/officeDocument/2006/relationships/notesMaster" Target="/ppt/notesMasters/notesMaster1.xml" Id="R7e454fd731a04f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e0c23f699745bf" /><Relationship Type="http://schemas.openxmlformats.org/officeDocument/2006/relationships/notesMaster" Target="/ppt/notesMasters/notesMaster1.xml" Id="R39db1c7f031540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9e5cf0a9fc4800" /><Relationship Type="http://schemas.openxmlformats.org/officeDocument/2006/relationships/notesMaster" Target="/ppt/notesMasters/notesMaster1.xml" Id="Raabfa7cb43ba41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13616e74fb402b" /><Relationship Type="http://schemas.openxmlformats.org/officeDocument/2006/relationships/notesMaster" Target="/ppt/notesMasters/notesMaster1.xml" Id="R3dff28f771d8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f22e480cd048ea" /><Relationship Type="http://schemas.openxmlformats.org/officeDocument/2006/relationships/notesMaster" Target="/ppt/notesMasters/notesMaster1.xml" Id="R1e310093c68b4a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846ed3d4d54563" /><Relationship Type="http://schemas.openxmlformats.org/officeDocument/2006/relationships/notesMaster" Target="/ppt/notesMasters/notesMaster1.xml" Id="R18018fb9ff1d4a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622cfa58a94040" /><Relationship Type="http://schemas.openxmlformats.org/officeDocument/2006/relationships/notesMaster" Target="/ppt/notesMasters/notesMaster1.xml" Id="Rbbfdf87affea43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9ae66dd44d444f" /><Relationship Type="http://schemas.openxmlformats.org/officeDocument/2006/relationships/notesMaster" Target="/ppt/notesMasters/notesMaster1.xml" Id="R4c86d7ac25d848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约45秒。介绍 RoamWise 是 Boston 周边地点检索原型；这一阶段展示可复现的检索流程。资料来自真实历史地点和评论。团队需按实际情况介绍成员及分工。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约1分钟。输入英文兴趣、城市和可选类别；输出地点和来源片段。检索来自真实 API，没有生成完整行程。Screenshot: evidence/app-overview.png.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约1分钟。原始文件为 UCSD Google Local 2021 Massachusetts，92,520 地点行、10,447,007 评论行。这里展示的是本次从原始文件重新处理的子集，不是之前 Excel 报告的筛选结果。每类125个地点，每个最多6条评论；按评论数取热门地点，有抽样偏差。Sources: https://mcauleylab.ucsd.edu/public_datasets/gdrive/googlelocal/ ; evidence/dataset-manifest.json.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约1.5分钟。打开 compose.yaml 解释 service_completed_successfully 和 service_healthy；每个 Python 步骤独立 Dockerfile、pyproject 和 uv.lock。数据与模型用 volume 保存。CPU运算和测试也在容器中。Source: compose.yaml; services/*/Dockerfile.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约1分钟。Docker 固定运行环境，uv.lock 固定 Python 依赖。数据校验与模型校验是不同层次。缓存使用前验证，数据/参数变更触发重建。Dockerfile 的每行要能解释。Sources: config/sources.json; services/index/Dockerfile; evidence/index-manifest.json.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约1分钟。展示保存的 sample-input.json 和 sample-output.json。Harvard Art Museums 排名第一；点击来源可以查看评论文件行号。相似度不是概率。输出context可供未来生成器使用，本版本没有生成式LLM。Sources: evidence/sample-input.json; evidence/sample-output.json; https://huggingface.co/sentence-transformers/all-MiniLM-L6-v2.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约1.5分钟现场演示。查询博物馆，切换baseline，查看来源，保存一个地点并导出。若演示电脑不在本机，先git clone并运行。Screenshot: evidence/app-search.png; source: frontend/app.js.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1.5分钟。不能把这个表叫人工推荐准确率。20条查询含类别词；类别标签来自预定义问题类别，是自动代理指标。baseline略高是合理结果。语义检索可能理解细节，但当前测量没有充分考察这个优势。不要事后修改查询来提高分数。Source: evaluation/queries.json; evidence/evaluation.json.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约1分钟。18项测试涵盖城市/闭店/坐标过滤、缺失值、分块重叠、联系方式清理、文件校验、输入拒绝、地点去重和引用。还有浏览器手动验证，不能说这些等价于全部端到端自动测试。截图为实际运行中的 API。Sources: tests/; evidence/tests.txt; evidence/containers.txt; evidence/api-running.png.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过去资料和偏样本限制结果的适用性；没有路线优化和实时营业状态。MS3先建立独立人工标签，再训练小reranker，记录实验并做API部署计划。与TF确认hybrid项目的评估路线。课程要求分支milestone2以及Canvas完整hash，不在演示时声称已提交Canvas。Sources: docs/DATA.md; docs/DEMO.md; https://harvard-iacs.github.io/2026-AC215/milestone2/.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b16e8c69149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dc696a7a84e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b9b14f37e4c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7b2a4418349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446d1dffe41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357e0b9cc49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8A779E-AB5D-4FAE-B68D-708BC3E2DB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5F5C89-9CAE-4465-8AFF-3BC3425CA4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D16069-BA04-4A27-AE73-82B335C3C8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B6696C-F158-4756-B788-E12119135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8613A8-D040-41C0-A423-3679253393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AA6B38-5DB8-4A9D-B308-D1FC292DDF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8D5562-4384-4DE9-BCF1-116BF8FE2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DB110A-F8A1-4722-B676-B096DDCEEF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FEEE69-71A8-4AF3-9EF5-A0654F61A4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D891B6-81E2-482A-8CB7-A8DA77129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33fb228f224f5b" /><Relationship Type="http://schemas.openxmlformats.org/officeDocument/2006/relationships/slideLayout" Target="/ppt/slideLayouts/slideLayout1.xml" Id="R314058b0b39249ca" /><Relationship Type="http://schemas.openxmlformats.org/officeDocument/2006/relationships/slideLayout" Target="/ppt/slideLayouts/slideLayout2.xml" Id="R48e86f6a1ca84b20" /><Relationship Type="http://schemas.openxmlformats.org/officeDocument/2006/relationships/slideLayout" Target="/ppt/slideLayouts/slideLayout3.xml" Id="Re45ecc02bde44c90" /><Relationship Type="http://schemas.openxmlformats.org/officeDocument/2006/relationships/slideLayout" Target="/ppt/slideLayouts/slideLayout4.xml" Id="Rcbe3347e284447d5" /><Relationship Type="http://schemas.openxmlformats.org/officeDocument/2006/relationships/slideLayout" Target="/ppt/slideLayouts/slideLayout5.xml" Id="Rab1588ecab1e459c" /><Relationship Type="http://schemas.openxmlformats.org/officeDocument/2006/relationships/slideLayout" Target="/ppt/slideLayouts/slideLayout6.xml" Id="R39cede49414645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4058b0b39249ca"/>
    <p:sldLayoutId xmlns:r="http://schemas.openxmlformats.org/officeDocument/2006/relationships" id="2147483650" r:id="R48e86f6a1ca84b20"/>
    <p:sldLayoutId xmlns:r="http://schemas.openxmlformats.org/officeDocument/2006/relationships" id="2147483651" r:id="Re45ecc02bde44c90"/>
    <p:sldLayoutId xmlns:r="http://schemas.openxmlformats.org/officeDocument/2006/relationships" id="2147483652" r:id="Rcbe3347e284447d5"/>
    <p:sldLayoutId xmlns:r="http://schemas.openxmlformats.org/officeDocument/2006/relationships" id="2147483653" r:id="Rab1588ecab1e459c"/>
    <p:sldLayoutId xmlns:r="http://schemas.openxmlformats.org/officeDocument/2006/relationships" id="2147483654" r:id="R39cede49414645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7561ee8ce4c46" /><Relationship Type="http://schemas.openxmlformats.org/officeDocument/2006/relationships/notesSlide" Target="/ppt/notesSlides/notesSlide1.xml" Id="R82dd62f4f16e43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2331455d54c1c" /><Relationship Type="http://schemas.openxmlformats.org/officeDocument/2006/relationships/image" Target="/ppt/media/image.jpeg" Id="R5d2aab42601b4a84" /><Relationship Type="http://schemas.openxmlformats.org/officeDocument/2006/relationships/notesSlide" Target="/ppt/notesSlides/notesSlide2.xml" Id="Rd3f05dddcb3f4a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7d72ef6a9403c" /><Relationship Type="http://schemas.openxmlformats.org/officeDocument/2006/relationships/notesSlide" Target="/ppt/notesSlides/notesSlide3.xml" Id="R1c251d85c0f943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ed24f90c84f76" /><Relationship Type="http://schemas.openxmlformats.org/officeDocument/2006/relationships/notesSlide" Target="/ppt/notesSlides/notesSlide4.xml" Id="R1b67bba3fcba45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fe7ed852a4fa8" /><Relationship Type="http://schemas.openxmlformats.org/officeDocument/2006/relationships/notesSlide" Target="/ppt/notesSlides/notesSlide5.xml" Id="Rc1a51c74729840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c05e09dda40e8" /><Relationship Type="http://schemas.openxmlformats.org/officeDocument/2006/relationships/notesSlide" Target="/ppt/notesSlides/notesSlide6.xml" Id="R264d14d8cc8b41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2ac9d805b484e" /><Relationship Type="http://schemas.openxmlformats.org/officeDocument/2006/relationships/image" Target="/ppt/media/image2.jpeg" Id="Rc6a817330c6b4c71" /><Relationship Type="http://schemas.openxmlformats.org/officeDocument/2006/relationships/notesSlide" Target="/ppt/notesSlides/notesSlide7.xml" Id="R820f421334d546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d6810bf8d4023" /><Relationship Type="http://schemas.openxmlformats.org/officeDocument/2006/relationships/notesSlide" Target="/ppt/notesSlides/notesSlide8.xml" Id="Ra90bb38bcd3344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68c78d0774dcf" /><Relationship Type="http://schemas.openxmlformats.org/officeDocument/2006/relationships/image" Target="/ppt/media/image3.jpeg" Id="Rccc4f28c45f641eb" /><Relationship Type="http://schemas.openxmlformats.org/officeDocument/2006/relationships/notesSlide" Target="/ppt/notesSlides/notesSlide9.xml" Id="Rb6b92e93c5e241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8045f951e34674" /><Relationship Type="http://schemas.openxmlformats.org/officeDocument/2006/relationships/notesSlide" Target="/ppt/notesSlides/notesSlide10.xml" Id="R058fd18556314d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B1CC4-91D2-4C88-9376-4A146B70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RoamWise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9D17E-4019-4B6C-83FE-5D53B8AB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367"/>
                </a:solidFill>
                <a:latin typeface="Arial"/>
                <a:ea typeface="Arial"/>
                <a:cs typeface="Arial"/>
              </a:rPr>
              <a:t>01  /  RoamWise · AC215 MS2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E64A5-9827-4A95-AC2E-02833DB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183C33"/>
                </a:solidFill>
                <a:latin typeface="Arial"/>
                <a:ea typeface="Arial"/>
                <a:cs typeface="Arial"/>
              </a:rPr>
              <a:t>A travel search prototype</a:t>
            </a:r>
          </a:p>
          <a:p xmlns:a="http://schemas.openxmlformats.org/drawingml/2006/main">
            <a:pPr>
              <a:defRPr sz="4650" b="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183C33"/>
                </a:solidFill>
                <a:latin typeface="Arial"/>
                <a:ea typeface="Arial"/>
                <a:cs typeface="Arial"/>
              </a:rPr>
              <a:t>with traceable 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ABD3B-9394-466E-AAE8-5C5AD664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657367"/>
                </a:solidFill>
                <a:latin typeface="Arial"/>
                <a:ea typeface="Arial"/>
                <a:cs typeface="Arial"/>
              </a:rPr>
              <a:t>The Routevengers</a:t>
            </a:r>
          </a:p>
          <a:p xmlns:a="http://schemas.openxmlformats.org/drawingml/2006/main">
            <a:pPr>
              <a:defRPr sz="225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657367"/>
                </a:solidFill>
                <a:latin typeface="Arial"/>
                <a:ea typeface="Arial"/>
                <a:cs typeface="Arial"/>
              </a:rPr>
              <a:t>Milestone 2 · MLOps infrastructure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38076-50EB-4082-AAE2-261D29C6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B14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>
                <a:solidFill>
                  <a:srgbClr val="B14F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B14F35"/>
                </a:solidFill>
                <a:latin typeface="Arial"/>
                <a:ea typeface="Arial"/>
                <a:cs typeface="Arial"/>
              </a:rPr>
              <a:t>Boston · Cambridge · Somerville</a:t>
            </a:r>
          </a:p>
        </p:txBody>
      </p:sp>
    </p:spTree>
    <p:extLst>
      <p:ext uri="{BB962C8B-B14F-4D97-AF65-F5344CB8AC3E}">
        <p14:creationId xmlns:p14="http://schemas.microsoft.com/office/powerpoint/2010/main" val="2128178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30106-E4A9-47EF-8F75-85047D04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Product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5018-C03A-4362-9291-22012359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367"/>
                </a:solidFill>
                <a:latin typeface="Arial"/>
                <a:ea typeface="Arial"/>
                <a:cs typeface="Arial"/>
              </a:rPr>
              <a:t>02  /  RoamWise · AC215 MS2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ECF07-88B2-4978-BDE3-B942E67E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846B0-6ACB-42F5-A106-C3C8F579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A preference in plain English,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an area and an optional 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E6DFD-7BE2-40C7-A4F7-930F2F39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873A0-33A5-46C0-AD41-D4A63B65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Ranked places, source passages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and a saved shortlist.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3FBDC-C88D-4ADE-954A-F2D1004EC1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aab42601b4a84"/>
          <a:stretch xmlns:a="http://schemas.openxmlformats.org/drawingml/2006/main"/>
        </p:blipFill>
        <p:spPr>
          <a:xfrm xmlns:a="http://schemas.openxmlformats.org/drawingml/2006/main">
            <a:off x="4552950" y="1546002"/>
            <a:ext cx="7029450" cy="395649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B094C-F2D8-4378-A177-180B5249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B14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>
                <a:solidFill>
                  <a:srgbClr val="B14F3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B14F35"/>
                </a:solidFill>
                <a:latin typeface="Arial"/>
                <a:ea typeface="Arial"/>
                <a:cs typeface="Arial"/>
              </a:rPr>
              <a:t>Historical search, not live availability or route planning.</a:t>
            </a:r>
          </a:p>
        </p:txBody>
      </p:sp>
    </p:spTree>
    <p:extLst>
      <p:ext uri="{BB962C8B-B14F-4D97-AF65-F5344CB8AC3E}">
        <p14:creationId xmlns:p14="http://schemas.microsoft.com/office/powerpoint/2010/main" val="987377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28EAE-9B70-4352-9C3C-6AFB5A8B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Pilot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87FAE-B158-4A2A-A3BC-2D71C0FF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367"/>
                </a:solidFill>
                <a:latin typeface="Arial"/>
                <a:ea typeface="Arial"/>
                <a:cs typeface="Arial"/>
              </a:rPr>
              <a:t>03  /  RoamWise · AC215 MS2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C1E87-CBDE-45E3-ABFF-8B6B12EC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500 places     3,000 reviews     3,976 chunks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97EF7-6888-486B-A03C-72AF3A636327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6286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190750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CCD"/>
                      </a:solidFill>
                    </a:lnL>
                    <a:lnR w="9525">
                      <a:solidFill>
                        <a:srgbClr val="D7DCCD"/>
                      </a:solidFill>
                    </a:lnR>
                    <a:lnT w="9525">
                      <a:solidFill>
                        <a:srgbClr val="D7DCCD"/>
                      </a:solidFill>
                    </a:lnT>
                    <a:lnB w="9525">
                      <a:solidFill>
                        <a:srgbClr val="D7DCCD"/>
                      </a:solidFill>
                    </a:lnB>
                    <a:solidFill>
                      <a:srgbClr val="183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CCD"/>
                      </a:solidFill>
                    </a:lnR>
                    <a:lnT w="9525">
                      <a:solidFill>
                        <a:srgbClr val="D7DCCD"/>
                      </a:solidFill>
                    </a:lnT>
                    <a:lnB w="9525">
                      <a:solidFill>
                        <a:srgbClr val="D7DCCD"/>
                      </a:solidFill>
                    </a:lnB>
                    <a:solidFill>
                      <a:srgbClr val="183C3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Boston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CCD"/>
                      </a:solidFill>
                    </a:lnL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383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Somerville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CCD"/>
                      </a:solidFill>
                    </a:lnL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Cambridge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CCD"/>
                      </a:solidFill>
                    </a:lnL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E5F3D-E066-4C0C-B1F7-F88C6BE4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Four broad categories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63973-7A14-4B48-B49B-37BC0401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Culture · Food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Lodging · Outdoors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125 places per category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D8C59-CA62-4355-B05E-BAA27820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B14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>
                <a:solidFill>
                  <a:srgbClr val="B14F3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B14F35"/>
                </a:solidFill>
                <a:latin typeface="Arial"/>
                <a:ea typeface="Arial"/>
                <a:cs typeface="Arial"/>
              </a:rPr>
              <a:t>Data ends in September 2021. The sample favors frequently reviewed places.</a:t>
            </a:r>
          </a:p>
        </p:txBody>
      </p:sp>
    </p:spTree>
    <p:extLst>
      <p:ext uri="{BB962C8B-B14F-4D97-AF65-F5344CB8AC3E}">
        <p14:creationId xmlns:p14="http://schemas.microsoft.com/office/powerpoint/2010/main" val="631344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C62D7-FCD5-456B-90D6-969D1D06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Container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AF655-CB7B-435D-9A19-10C572D7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367"/>
                </a:solidFill>
                <a:latin typeface="Arial"/>
                <a:ea typeface="Arial"/>
                <a:cs typeface="Arial"/>
              </a:rPr>
              <a:t>04  /  RoamWise · AC215 MS2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2CED9-4562-437A-A3F9-F62671CA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01  Ingest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ACACF-165C-4EEA-8685-F474A6D1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Download source files and verify SHA-256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1BBCF-37EC-482D-ABD8-A19A817F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02  Prepare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64C53-81A7-4708-ACCB-F17F47A4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955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Filter places, deduplicate reviews and chunk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FCA58-53EA-43CC-85DB-C87C1C47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03 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3D018-5E23-49D6-8D0B-E4BA8211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194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Encode text with MiniLM and write to Chroma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F7845-A1D1-45DE-92E0-47ACE4A7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04  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612D5-FF6D-4271-BBD4-71E3012A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433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FastAPI returns places, citations and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B9EAC-30A2-4A2F-8D00-CFF5ADC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05  Evaluate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7137E-9AA1-4EAC-BADB-74BBA361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Run the fixed baseline/semantic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C5E13-77EC-4830-95EA-2543B9DB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B14F3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2400">
                <a:solidFill>
                  <a:srgbClr val="B14F35"/>
                </a:solidFill>
                <a:latin typeface="Consolas"/>
                <a:ea typeface="Consolas"/>
                <a:cs typeface="Consolas"/>
              </a:defRPr>
            </a:pPr>
            <a:r>
              <a:rPr sz="2400">
                <a:solidFill>
                  <a:srgbClr val="B14F35"/>
                </a:solidFill>
                <a:latin typeface="Consolas"/>
                <a:ea typeface="Consolas"/>
                <a:cs typeface="Consolas"/>
              </a:rPr>
              <a:t>docker compose up --build</a:t>
            </a:r>
          </a:p>
        </p:txBody>
      </p:sp>
    </p:spTree>
    <p:extLst>
      <p:ext uri="{BB962C8B-B14F-4D97-AF65-F5344CB8AC3E}">
        <p14:creationId xmlns:p14="http://schemas.microsoft.com/office/powerpoint/2010/main" val="988890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3ED9E-8228-43BB-A0D4-5086B9CA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Reproducible by 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9BBEE-7AED-4B20-B1B6-52B56B7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367"/>
                </a:solidFill>
                <a:latin typeface="Arial"/>
                <a:ea typeface="Arial"/>
                <a:cs typeface="Arial"/>
              </a:rPr>
              <a:t>05  /  RoamWise · AC215 MS2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0C277-6AA1-4564-A5F2-9930932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Python container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8F2D4-10CB-459C-8B02-B2EDE6D3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6286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83C3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>
                <a:solidFill>
                  <a:srgbClr val="183C33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83C33"/>
                </a:solidFill>
                <a:latin typeface="Consolas"/>
                <a:ea typeface="Consolas"/>
                <a:cs typeface="Consolas"/>
              </a:rPr>
              <a:t>FROM &lt;pinned uv/Python image&gt;</a:t>
            </a:r>
          </a:p>
          <a:p xmlns:a="http://schemas.openxmlformats.org/drawingml/2006/main">
            <a:pPr>
              <a:defRPr sz="1875">
                <a:solidFill>
                  <a:srgbClr val="183C33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83C33"/>
                </a:solidFill>
                <a:latin typeface="Consolas"/>
                <a:ea typeface="Consolas"/>
                <a:cs typeface="Consolas"/>
              </a:rPr>
              <a:t>WORKDIR /app</a:t>
            </a:r>
          </a:p>
          <a:p xmlns:a="http://schemas.openxmlformats.org/drawingml/2006/main">
            <a:pPr>
              <a:defRPr sz="1875">
                <a:solidFill>
                  <a:srgbClr val="183C33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83C33"/>
                </a:solidFill>
                <a:latin typeface="Consolas"/>
                <a:ea typeface="Consolas"/>
                <a:cs typeface="Consolas"/>
              </a:rPr>
              <a:t>COPY pyproject.toml uv.lock ./</a:t>
            </a:r>
          </a:p>
          <a:p xmlns:a="http://schemas.openxmlformats.org/drawingml/2006/main">
            <a:pPr>
              <a:defRPr sz="1875">
                <a:solidFill>
                  <a:srgbClr val="183C33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83C33"/>
                </a:solidFill>
                <a:latin typeface="Consolas"/>
                <a:ea typeface="Consolas"/>
                <a:cs typeface="Consolas"/>
              </a:rPr>
              <a:t>RUN uv sync --frozen --no-dev</a:t>
            </a:r>
          </a:p>
          <a:p xmlns:a="http://schemas.openxmlformats.org/drawingml/2006/main">
            <a:pPr>
              <a:defRPr sz="1875">
                <a:solidFill>
                  <a:srgbClr val="183C33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83C33"/>
                </a:solidFill>
                <a:latin typeface="Consolas"/>
                <a:ea typeface="Consolas"/>
                <a:cs typeface="Consolas"/>
              </a:rPr>
              <a:t>COPY roamwise ./roamwise</a:t>
            </a:r>
          </a:p>
          <a:p xmlns:a="http://schemas.openxmlformats.org/drawingml/2006/main">
            <a:pPr>
              <a:defRPr sz="1875">
                <a:solidFill>
                  <a:srgbClr val="183C33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83C33"/>
                </a:solidFill>
                <a:latin typeface="Consolas"/>
                <a:ea typeface="Consolas"/>
                <a:cs typeface="Consolas"/>
              </a:rPr>
              <a:t>CMD ["uv", "run", ...]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E5662-9A44-48E4-A4D3-CD8ABAF7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Versioned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E101D-9C78-4826-9702-BAE46B5E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00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Source file checksums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Selection and chunk settings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Model archive checksum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Dependency lockfiles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Dataset and index 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D38B8-526E-4F9D-9469-50019EBD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B14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>
                <a:solidFill>
                  <a:srgbClr val="B14F3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B14F35"/>
                </a:solidFill>
                <a:latin typeface="Arial"/>
                <a:ea typeface="Arial"/>
                <a:cs typeface="Arial"/>
              </a:rPr>
              <a:t>No host Python, GPU, cloud account or API key required.</a:t>
            </a:r>
          </a:p>
        </p:txBody>
      </p:sp>
    </p:spTree>
    <p:extLst>
      <p:ext uri="{BB962C8B-B14F-4D97-AF65-F5344CB8AC3E}">
        <p14:creationId xmlns:p14="http://schemas.microsoft.com/office/powerpoint/2010/main" val="2027636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2EC69-94D8-4F2F-90FC-DB06EF48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A complete query → context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D3E47-B25A-44A7-9AD1-CF6AEA07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367"/>
                </a:solidFill>
                <a:latin typeface="Arial"/>
                <a:ea typeface="Arial"/>
                <a:cs typeface="Arial"/>
              </a:rPr>
              <a:t>06  /  RoamWise · AC215 MS2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2670F-7A45-483D-BC85-E5A78CAE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B14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B14F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14F35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E4334-7929-47F0-A1E3-2D49489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183C33"/>
                </a:solidFill>
                <a:latin typeface="Arial"/>
                <a:ea typeface="Arial"/>
                <a:cs typeface="Arial"/>
              </a:rPr>
              <a:t>“art museum with paintings near Harvard”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F8651-07EF-4AB2-91AF-D66B41EB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1  Harvard Art Museums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574AD-5642-4315-8C49-298059A8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657367"/>
                </a:solidFill>
                <a:latin typeface="Arial"/>
                <a:ea typeface="Arial"/>
                <a:cs typeface="Arial"/>
              </a:rPr>
              <a:t>Cambridge · cosine similarity 0.815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4D8D7-88E4-4913-915A-BFCDA03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Source: review-Massachusetts.json.gz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Each passage includes a source line, chunk ID and citation.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08B24-AE02-428F-830E-699A1BD0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B14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>
                <a:solidFill>
                  <a:srgbClr val="B14F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B14F35"/>
                </a:solidFill>
                <a:latin typeface="Arial"/>
                <a:ea typeface="Arial"/>
                <a:cs typeface="Arial"/>
              </a:rPr>
              <a:t>384-dimensional MiniLM vectors · Chroma cosine search · place deduplication</a:t>
            </a:r>
          </a:p>
        </p:txBody>
      </p:sp>
    </p:spTree>
    <p:extLst>
      <p:ext uri="{BB962C8B-B14F-4D97-AF65-F5344CB8AC3E}">
        <p14:creationId xmlns:p14="http://schemas.microsoft.com/office/powerpoint/2010/main" val="410387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A665E-E68B-4B00-8B71-7E6D0566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Working web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BAC33-A4E4-47BB-9331-5A858B4A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367"/>
                </a:solidFill>
                <a:latin typeface="Arial"/>
                <a:ea typeface="Arial"/>
                <a:cs typeface="Arial"/>
              </a:rPr>
              <a:t>07  /  RoamWise · AC215 MS2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94DAC-FDB2-446B-854B-D0C61344F6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817330c6b4c71"/>
          <a:stretch xmlns:a="http://schemas.openxmlformats.org/drawingml/2006/main"/>
        </p:blipFill>
        <p:spPr>
          <a:xfrm xmlns:a="http://schemas.openxmlformats.org/drawingml/2006/main">
            <a:off x="780435" y="1362075"/>
            <a:ext cx="8326081" cy="468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E470F-82F5-41FE-BACE-706456FA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2047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3C33"/>
                </a:solidFill>
                <a:latin typeface="Arial"/>
                <a:ea typeface="Arial"/>
                <a:cs typeface="Arial"/>
              </a:rPr>
              <a:t>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3C33"/>
                </a:solidFill>
                <a:latin typeface="Arial"/>
                <a:ea typeface="Arial"/>
                <a:cs typeface="Arial"/>
              </a:rPr>
              <a:t>Compare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3C33"/>
                </a:solidFill>
                <a:latin typeface="Arial"/>
                <a:ea typeface="Arial"/>
                <a:cs typeface="Arial"/>
              </a:rPr>
              <a:t>Inspect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3C33"/>
                </a:solidFill>
                <a:latin typeface="Arial"/>
                <a:ea typeface="Arial"/>
                <a:cs typeface="Arial"/>
              </a:rPr>
              <a:t>Save places</a:t>
            </a:r>
          </a:p>
        </p:txBody>
      </p:sp>
    </p:spTree>
    <p:extLst>
      <p:ext uri="{BB962C8B-B14F-4D97-AF65-F5344CB8AC3E}">
        <p14:creationId xmlns:p14="http://schemas.microsoft.com/office/powerpoint/2010/main" val="13837745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A2509-6E58-4A30-A882-A2B74CC3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Initial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C8901-9D51-4A99-81E5-F95EE390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367"/>
                </a:solidFill>
                <a:latin typeface="Arial"/>
                <a:ea typeface="Arial"/>
                <a:cs typeface="Arial"/>
              </a:rPr>
              <a:t>08  /  RoamWise · AC215 MS2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7EE09-7914-412D-9CEE-01209A0BCAA1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238500"/>
                <a:gridCol w="382905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CCD"/>
                      </a:solidFill>
                    </a:lnL>
                    <a:lnR w="9525">
                      <a:solidFill>
                        <a:srgbClr val="D7DCCD"/>
                      </a:solidFill>
                    </a:lnR>
                    <a:lnT w="9525">
                      <a:solidFill>
                        <a:srgbClr val="D7DCCD"/>
                      </a:solidFill>
                    </a:lnT>
                    <a:lnB w="9525">
                      <a:solidFill>
                        <a:srgbClr val="D7DCCD"/>
                      </a:solidFill>
                    </a:lnB>
                    <a:solidFill>
                      <a:srgbClr val="183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hits @5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CCD"/>
                      </a:solidFill>
                    </a:lnR>
                    <a:lnT w="9525">
                      <a:solidFill>
                        <a:srgbClr val="D7DCCD"/>
                      </a:solidFill>
                    </a:lnT>
                    <a:lnB w="9525">
                      <a:solidFill>
                        <a:srgbClr val="D7DCCD"/>
                      </a:solidFill>
                    </a:lnB>
                    <a:solidFill>
                      <a:srgbClr val="183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HTTP latency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CCD"/>
                      </a:solidFill>
                    </a:lnR>
                    <a:lnT w="9525">
                      <a:solidFill>
                        <a:srgbClr val="D7DCCD"/>
                      </a:solidFill>
                    </a:lnT>
                    <a:lnB w="9525">
                      <a:solidFill>
                        <a:srgbClr val="D7DCCD"/>
                      </a:solidFill>
                    </a:lnB>
                    <a:solidFill>
                      <a:srgbClr val="183C3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Category + rating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CCD"/>
                      </a:solidFill>
                    </a:lnL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0.95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3.54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MiniLM retrieval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CCD"/>
                      </a:solidFill>
                    </a:lnL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0.92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3"/>
                          </a:solidFill>
                          <a:latin typeface="Arial"/>
                          <a:ea typeface="Arial"/>
                          <a:cs typeface="Arial"/>
                        </a:rPr>
                        <a:t>95.98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CCD"/>
                      </a:solidFill>
                    </a:lnR>
                    <a:lnB w="9525">
                      <a:solidFill>
                        <a:srgbClr val="D7DCCD"/>
                      </a:solidFill>
                    </a:lnB>
                    <a:solidFill>
                      <a:srgbClr val="FFFE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04DAD-B566-4421-A3C8-B84584AD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20 fixed queries per method · zero duplicate places returned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C4AFD-B05A-40EB-B9CD-48D0B6BE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B14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B14F35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B14F35"/>
                </a:solidFill>
                <a:latin typeface="Arial"/>
                <a:ea typeface="Arial"/>
                <a:cs typeface="Arial"/>
              </a:rPr>
              <a:t>This is a category proxy, not human Precision@5.</a:t>
            </a:r>
          </a:p>
          <a:p xmlns:a="http://schemas.openxmlformats.org/drawingml/2006/main">
            <a:pPr>
              <a:defRPr sz="2100">
                <a:solidFill>
                  <a:srgbClr val="B14F35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B14F35"/>
                </a:solidFill>
                <a:latin typeface="Arial"/>
                <a:ea typeface="Arial"/>
                <a:cs typeface="Arial"/>
              </a:rPr>
              <a:t>The query wording favors the keyword baseline.</a:t>
            </a:r>
          </a:p>
        </p:txBody>
      </p:sp>
    </p:spTree>
    <p:extLst>
      <p:ext uri="{BB962C8B-B14F-4D97-AF65-F5344CB8AC3E}">
        <p14:creationId xmlns:p14="http://schemas.microsoft.com/office/powerpoint/2010/main" val="21461044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5098B-E217-4A66-91E7-6E43872E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Verification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8E663-59C2-4B64-B3AA-11611555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367"/>
                </a:solidFill>
                <a:latin typeface="Arial"/>
                <a:ea typeface="Arial"/>
                <a:cs typeface="Arial"/>
              </a:rPr>
              <a:t>09  /  RoamWise · AC215 MS2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84FFA-D98B-4124-9315-D4EC41AF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18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D9F3E-AF73-4073-94EA-D415813D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619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Data rules and chunk boundaries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Source checksum failures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API validation and place lookup</a:t>
            </a:r>
          </a:p>
          <a:p xmlns:a="http://schemas.openxmlformats.org/drawingml/2006/main">
            <a:pPr>
              <a:defRPr sz="2100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C33"/>
                </a:solidFill>
                <a:latin typeface="Arial"/>
                <a:ea typeface="Arial"/>
                <a:cs typeface="Arial"/>
              </a:rPr>
              <a:t>Deduplication and source citations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1012F-D093-4B88-B230-0FFDC274C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4f28c45f641eb"/>
          <a:stretch xmlns:a="http://schemas.openxmlformats.org/drawingml/2006/main"/>
        </p:blipFill>
        <p:spPr>
          <a:xfrm xmlns:a="http://schemas.openxmlformats.org/drawingml/2006/main">
            <a:off x="6619875" y="1892237"/>
            <a:ext cx="4953000" cy="2787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1E56E-56A3-4840-AF20-E25281D5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B14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>
                <a:solidFill>
                  <a:srgbClr val="B14F3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B14F35"/>
                </a:solidFill>
                <a:latin typeface="Arial"/>
                <a:ea typeface="Arial"/>
                <a:cs typeface="Arial"/>
              </a:rPr>
              <a:t>Saved input/output JSON, manifests, logs and browser screenshots</a:t>
            </a:r>
          </a:p>
        </p:txBody>
      </p:sp>
    </p:spTree>
    <p:extLst>
      <p:ext uri="{BB962C8B-B14F-4D97-AF65-F5344CB8AC3E}">
        <p14:creationId xmlns:p14="http://schemas.microsoft.com/office/powerpoint/2010/main" val="1109628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18BFA-A12F-4B98-BABD-39901E88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Limits and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3C13D-28D3-4094-A4A9-3452ED2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573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367"/>
                </a:solidFill>
                <a:latin typeface="Arial"/>
                <a:ea typeface="Arial"/>
                <a:cs typeface="Arial"/>
              </a:rPr>
              <a:t>10  /  RoamWise · AC215 MS2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97B6C-401F-4785-9247-D4D0D607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B2B1B-3087-45A5-8383-DC759963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C33"/>
                </a:solidFill>
                <a:latin typeface="Arial"/>
                <a:ea typeface="Arial"/>
                <a:cs typeface="Arial"/>
              </a:rPr>
              <a:t>Historical source data</a:t>
            </a:r>
          </a:p>
          <a:p xmlns:a="http://schemas.openxmlformats.org/drawingml/2006/main">
            <a:pPr>
              <a:defRPr sz="217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C33"/>
                </a:solidFill>
                <a:latin typeface="Arial"/>
                <a:ea typeface="Arial"/>
                <a:cs typeface="Arial"/>
              </a:rPr>
              <a:t>Popularity-biased sampling</a:t>
            </a:r>
          </a:p>
          <a:p xmlns:a="http://schemas.openxmlformats.org/drawingml/2006/main">
            <a:pPr>
              <a:defRPr sz="217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C33"/>
                </a:solidFill>
                <a:latin typeface="Arial"/>
                <a:ea typeface="Arial"/>
                <a:cs typeface="Arial"/>
              </a:rPr>
              <a:t>English encoder and proxy labels</a:t>
            </a:r>
          </a:p>
          <a:p xmlns:a="http://schemas.openxmlformats.org/drawingml/2006/main">
            <a:pPr>
              <a:defRPr sz="217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C33"/>
                </a:solidFill>
                <a:latin typeface="Arial"/>
                <a:ea typeface="Arial"/>
                <a:cs typeface="Arial"/>
              </a:rPr>
              <a:t>No generated itinerary or routing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F6E99-BD55-4556-B379-572983E0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C33"/>
                </a:solidFill>
                <a:latin typeface="Arial"/>
                <a:ea typeface="Arial"/>
                <a:cs typeface="Arial"/>
              </a:rPr>
              <a:t>MS3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FFD37-DEF1-48BC-BFA1-BBB648EA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83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C33"/>
                </a:solidFill>
                <a:latin typeface="Arial"/>
                <a:ea typeface="Arial"/>
                <a:cs typeface="Arial"/>
              </a:rPr>
              <a:t>Collect independent relevance labels</a:t>
            </a:r>
          </a:p>
          <a:p xmlns:a="http://schemas.openxmlformats.org/drawingml/2006/main">
            <a:pPr>
              <a:defRPr sz="217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C33"/>
                </a:solidFill>
                <a:latin typeface="Arial"/>
                <a:ea typeface="Arial"/>
                <a:cs typeface="Arial"/>
              </a:rPr>
              <a:t>Train a lightweight reranker</a:t>
            </a:r>
          </a:p>
          <a:p xmlns:a="http://schemas.openxmlformats.org/drawingml/2006/main">
            <a:pPr>
              <a:defRPr sz="217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C33"/>
                </a:solidFill>
                <a:latin typeface="Arial"/>
                <a:ea typeface="Arial"/>
                <a:cs typeface="Arial"/>
              </a:rPr>
              <a:t>Track experiments and held-out results</a:t>
            </a:r>
          </a:p>
          <a:p xmlns:a="http://schemas.openxmlformats.org/drawingml/2006/main">
            <a:pPr>
              <a:defRPr sz="2175">
                <a:solidFill>
                  <a:srgbClr val="183C3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C33"/>
                </a:solidFill>
                <a:latin typeface="Arial"/>
                <a:ea typeface="Arial"/>
                <a:cs typeface="Arial"/>
              </a:rPr>
              <a:t>Prepare monitored API deployment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82F35-9F01-449F-A893-D57B193E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B14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B14F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14F35"/>
                </a:solidFill>
                <a:latin typeface="Arial"/>
                <a:ea typeface="Arial"/>
                <a:cs typeface="Arial"/>
              </a:rPr>
              <a:t>Repository: EthanCHEN6/ac215-roamwise · submission branch: milestone2</a:t>
            </a:r>
          </a:p>
        </p:txBody>
      </p:sp>
    </p:spTree>
    <p:extLst>
      <p:ext uri="{BB962C8B-B14F-4D97-AF65-F5344CB8AC3E}">
        <p14:creationId xmlns:p14="http://schemas.microsoft.com/office/powerpoint/2010/main" val="344734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2026-10-16T04:43:40.1690000Z</dcterms:created>
  <dcterms:modified xsi:type="dcterms:W3CDTF">2026-10-16T04:43:40.1690000Z</dcterms:modified>
</coreProperties>
</file>